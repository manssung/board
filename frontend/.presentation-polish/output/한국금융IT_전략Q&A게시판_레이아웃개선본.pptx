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26ac416da54b44" /><Relationship Type="http://schemas.openxmlformats.org/officeDocument/2006/relationships/extended-properties" Target="/docProps/app.xml" Id="R856ae4167cb44912" /><Relationship Type="http://schemas.openxmlformats.org/officeDocument/2006/relationships/officeDocument" Target="/ppt/presentation.xml" Id="R410afe507c7041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2d59a98ee343a8"/>
  </p:sldMasterIdLst>
  <p:notesMasterIdLst>
    <p:notesMasterId xmlns:r="http://schemas.openxmlformats.org/officeDocument/2006/relationships" r:id="R18be9aeb04644b62"/>
  </p:notesMasterIdLst>
  <p:sldIdLst>
    <p:sldId xmlns:r="http://schemas.openxmlformats.org/officeDocument/2006/relationships" id="256" r:id="Rff7df93cdd9a4398"/>
    <p:sldId xmlns:r="http://schemas.openxmlformats.org/officeDocument/2006/relationships" id="257" r:id="Rb732fbda6f5642e3"/>
    <p:sldId xmlns:r="http://schemas.openxmlformats.org/officeDocument/2006/relationships" id="258" r:id="Rfacce9947df94cc0"/>
    <p:sldId xmlns:r="http://schemas.openxmlformats.org/officeDocument/2006/relationships" id="259" r:id="R6a9c36a8ed764e0b"/>
    <p:sldId xmlns:r="http://schemas.openxmlformats.org/officeDocument/2006/relationships" id="260" r:id="R61c5de42a244454b"/>
    <p:sldId xmlns:r="http://schemas.openxmlformats.org/officeDocument/2006/relationships" id="261" r:id="Rdb68a19ed9f047e7"/>
    <p:sldId xmlns:r="http://schemas.openxmlformats.org/officeDocument/2006/relationships" id="262" r:id="R617398ea27f946b6"/>
    <p:sldId xmlns:r="http://schemas.openxmlformats.org/officeDocument/2006/relationships" id="263" r:id="R890e679f3639440c"/>
    <p:sldId xmlns:r="http://schemas.openxmlformats.org/officeDocument/2006/relationships" id="264" r:id="Rac2c301365214be6"/>
    <p:sldId xmlns:r="http://schemas.openxmlformats.org/officeDocument/2006/relationships" id="265" r:id="Rbf5901afa1754d4d"/>
    <p:sldId xmlns:r="http://schemas.openxmlformats.org/officeDocument/2006/relationships" id="266" r:id="Rad684a0d67074fb2"/>
    <p:sldId xmlns:r="http://schemas.openxmlformats.org/officeDocument/2006/relationships" id="267" r:id="R707850e5facb4e69"/>
    <p:sldId xmlns:r="http://schemas.openxmlformats.org/officeDocument/2006/relationships" id="268" r:id="Re922140aae8c42b4"/>
    <p:sldId xmlns:r="http://schemas.openxmlformats.org/officeDocument/2006/relationships" id="269" r:id="R38be77af6ce5426f"/>
    <p:sldId xmlns:r="http://schemas.openxmlformats.org/officeDocument/2006/relationships" id="270" r:id="R56373391e95f41f4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eae50e008946b4" /><Relationship Type="http://schemas.openxmlformats.org/officeDocument/2006/relationships/slideMaster" Target="/ppt/slideMasters/slideMaster1.xml" Id="R5f2d59a98ee343a8" /><Relationship Type="http://schemas.openxmlformats.org/officeDocument/2006/relationships/notesMaster" Target="/ppt/notesMasters/notesMaster1.xml" Id="R18be9aeb04644b62" /><Relationship Type="http://schemas.openxmlformats.org/officeDocument/2006/relationships/presProps" Target="/ppt/presProps.xml" Id="Rfe3de1cdf6f24beb" /><Relationship Type="http://schemas.openxmlformats.org/officeDocument/2006/relationships/viewProps" Target="/ppt/viewProps.xml" Id="R5f7bc51340784ddb" /><Relationship Type="http://schemas.openxmlformats.org/officeDocument/2006/relationships/tableStyles" Target="/ppt/tableStyles.xml" Id="Rf84ba757110a42cb" /><Relationship Type="http://schemas.openxmlformats.org/officeDocument/2006/relationships/slide" Target="/ppt/slides/slide1.xml" Id="Rff7df93cdd9a4398" /><Relationship Type="http://schemas.openxmlformats.org/officeDocument/2006/relationships/slide" Target="/ppt/slides/slide2.xml" Id="Rb732fbda6f5642e3" /><Relationship Type="http://schemas.openxmlformats.org/officeDocument/2006/relationships/slide" Target="/ppt/slides/slide3.xml" Id="Rfacce9947df94cc0" /><Relationship Type="http://schemas.openxmlformats.org/officeDocument/2006/relationships/slide" Target="/ppt/slides/slide4.xml" Id="R6a9c36a8ed764e0b" /><Relationship Type="http://schemas.openxmlformats.org/officeDocument/2006/relationships/slide" Target="/ppt/slides/slide5.xml" Id="R61c5de42a244454b" /><Relationship Type="http://schemas.openxmlformats.org/officeDocument/2006/relationships/slide" Target="/ppt/slides/slide6.xml" Id="Rdb68a19ed9f047e7" /><Relationship Type="http://schemas.openxmlformats.org/officeDocument/2006/relationships/slide" Target="/ppt/slides/slide7.xml" Id="R617398ea27f946b6" /><Relationship Type="http://schemas.openxmlformats.org/officeDocument/2006/relationships/slide" Target="/ppt/slides/slide8.xml" Id="R890e679f3639440c" /><Relationship Type="http://schemas.openxmlformats.org/officeDocument/2006/relationships/slide" Target="/ppt/slides/slide9.xml" Id="Rac2c301365214be6" /><Relationship Type="http://schemas.openxmlformats.org/officeDocument/2006/relationships/slide" Target="/ppt/slides/slide10.xml" Id="Rbf5901afa1754d4d" /><Relationship Type="http://schemas.openxmlformats.org/officeDocument/2006/relationships/slide" Target="/ppt/slides/slide11.xml" Id="Rad684a0d67074fb2" /><Relationship Type="http://schemas.openxmlformats.org/officeDocument/2006/relationships/slide" Target="/ppt/slides/slide12.xml" Id="R707850e5facb4e69" /><Relationship Type="http://schemas.openxmlformats.org/officeDocument/2006/relationships/slide" Target="/ppt/slides/slide13.xml" Id="Re922140aae8c42b4" /><Relationship Type="http://schemas.openxmlformats.org/officeDocument/2006/relationships/slide" Target="/ppt/slides/slide14.xml" Id="R38be77af6ce5426f" /><Relationship Type="http://schemas.openxmlformats.org/officeDocument/2006/relationships/slide" Target="/ppt/slides/slide15.xml" Id="R56373391e95f41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1f7aefcdc246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28e30186b94183" /><Relationship Type="http://schemas.openxmlformats.org/officeDocument/2006/relationships/notesMaster" Target="/ppt/notesMasters/notesMaster1.xml" Id="R5f8496811efe4c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15388411f749ab" /><Relationship Type="http://schemas.openxmlformats.org/officeDocument/2006/relationships/notesMaster" Target="/ppt/notesMasters/notesMaster1.xml" Id="R6f9a0340ed6449f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a92fd3d4415483b" /><Relationship Type="http://schemas.openxmlformats.org/officeDocument/2006/relationships/notesMaster" Target="/ppt/notesMasters/notesMaster1.xml" Id="Rcae25ef4f85a43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e94580176744e51" /><Relationship Type="http://schemas.openxmlformats.org/officeDocument/2006/relationships/notesMaster" Target="/ppt/notesMasters/notesMaster1.xml" Id="R348deadfdf294c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c883f0935994be0" /><Relationship Type="http://schemas.openxmlformats.org/officeDocument/2006/relationships/notesMaster" Target="/ppt/notesMasters/notesMaster1.xml" Id="R1badf43c0d88475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79c2cfc700646df" /><Relationship Type="http://schemas.openxmlformats.org/officeDocument/2006/relationships/notesMaster" Target="/ppt/notesMasters/notesMaster1.xml" Id="R239341e00197497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4b4915e73e942a6" /><Relationship Type="http://schemas.openxmlformats.org/officeDocument/2006/relationships/notesMaster" Target="/ppt/notesMasters/notesMaster1.xml" Id="R686c4ccb2a854e2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2e98d69988a4519" /><Relationship Type="http://schemas.openxmlformats.org/officeDocument/2006/relationships/notesMaster" Target="/ppt/notesMasters/notesMaster1.xml" Id="Ree00cb2857604ed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55848ad9f354f60" /><Relationship Type="http://schemas.openxmlformats.org/officeDocument/2006/relationships/notesMaster" Target="/ppt/notesMasters/notesMaster1.xml" Id="R207dd3620e5c4a4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312728841e64fb5" /><Relationship Type="http://schemas.openxmlformats.org/officeDocument/2006/relationships/notesMaster" Target="/ppt/notesMasters/notesMaster1.xml" Id="Rd70bdb832f194b5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7d66701bbd54acf" /><Relationship Type="http://schemas.openxmlformats.org/officeDocument/2006/relationships/notesMaster" Target="/ppt/notesMasters/notesMaster1.xml" Id="R3dd6f48604fc4fc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442e8a3672d4abf" /><Relationship Type="http://schemas.openxmlformats.org/officeDocument/2006/relationships/notesMaster" Target="/ppt/notesMasters/notesMaster1.xml" Id="R288a03c878224e8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f4eec5c60304848" /><Relationship Type="http://schemas.openxmlformats.org/officeDocument/2006/relationships/notesMaster" Target="/ppt/notesMasters/notesMaster1.xml" Id="R3b0656201be741b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a5a8692f9094c57" /><Relationship Type="http://schemas.openxmlformats.org/officeDocument/2006/relationships/notesMaster" Target="/ppt/notesMasters/notesMaster1.xml" Id="R5a8272f75906406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6692cca655249ae" /><Relationship Type="http://schemas.openxmlformats.org/officeDocument/2006/relationships/notesMaster" Target="/ppt/notesMasters/notesMaster1.xml" Id="R094f5b73874643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투자 아이디어를</a:t>
            </a:r>
            <a:br/>
            <a:r>
              <a:t>고객의 전략으로</a:t>
            </a:r>
            <a:br/>
            <a:r>
              <a:t>구현합니다</a:t>
            </a:r>
          </a:p>
          <a:p xmlns:a="http://schemas.openxmlformats.org/drawingml/2006/main">
            <a:r>
              <a:t>원하는 조건을 문의하면,</a:t>
            </a:r>
            <a:br/>
            <a:r>
              <a:t>전략 전문인력이 작성과 전달을 지원합니다.</a:t>
            </a:r>
          </a:p>
          <a:p xmlns:a="http://schemas.openxmlformats.org/drawingml/2006/main">
            <a:r>
              <a:t>신고가 조건, 특정 종목군 제외, 차트 신호 등</a:t>
            </a:r>
            <a:br/>
            <a:r>
              <a:t>고객의 아이디어와 요구조건을 확인합니다.</a:t>
            </a:r>
          </a:p>
          <a:p xmlns:a="http://schemas.openxmlformats.org/drawingml/2006/main">
            <a:r>
              <a:t>전략 문의  /  전문인력 작성  /  요청 시 전달</a:t>
            </a:r>
          </a:p>
          <a:p xmlns:a="http://schemas.openxmlformats.org/drawingml/2006/main">
            <a:r>
              <a:t>실제 전략 작성 화면</a:t>
            </a:r>
          </a:p>
          <a:p xmlns:a="http://schemas.openxmlformats.org/drawingml/2006/main">
            <a:r>
              <a:t>요청한 조건을 분석하고 전략을 구성합니다</a:t>
            </a:r>
          </a:p>
          <a:p xmlns:a="http://schemas.openxmlformats.org/drawingml/2006/main">
            <a:r>
              <a:t>화면 출처: 한국금융IT_전략QA게시판_소개서_2026년도_8월.pptx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문의 확인부터 전략 전달까지 한 번에</a:t>
            </a:r>
          </a:p>
          <a:p xmlns:a="http://schemas.openxmlformats.org/drawingml/2006/main">
            <a:r>
              <a:t>고객이 전달받는 전략선물함</a:t>
            </a:r>
          </a:p>
          <a:p xmlns:a="http://schemas.openxmlformats.org/drawingml/2006/main">
            <a:r>
              <a:t>01  전략·조건검색 문의 대응</a:t>
            </a:r>
          </a:p>
          <a:p xmlns:a="http://schemas.openxmlformats.org/drawingml/2006/main">
            <a:r>
              <a:t>고객의 요구조건을 파악하고 사용방법을 안내합니다.</a:t>
            </a:r>
          </a:p>
          <a:p xmlns:a="http://schemas.openxmlformats.org/drawingml/2006/main">
            <a:r>
              <a:t>02  전략 작성 지원</a:t>
            </a:r>
          </a:p>
          <a:p xmlns:a="http://schemas.openxmlformats.org/drawingml/2006/main">
            <a:r>
              <a:t>요청한 조건을 바탕으로 필요한 전략을 구성합니다.</a:t>
            </a:r>
          </a:p>
          <a:p xmlns:a="http://schemas.openxmlformats.org/drawingml/2006/main">
            <a:r>
              <a:t>03  전략선물로 전달</a:t>
            </a:r>
          </a:p>
          <a:p xmlns:a="http://schemas.openxmlformats.org/drawingml/2006/main">
            <a:r>
              <a:t>전략선물 요청 시 작성된 전략을 고객에게 전달합니다.</a:t>
            </a:r>
          </a:p>
          <a:p xmlns:a="http://schemas.openxmlformats.org/drawingml/2006/main">
            <a:r>
              <a:t>57,609건</a:t>
            </a:r>
          </a:p>
          <a:p xmlns:a="http://schemas.openxmlformats.org/drawingml/2006/main">
            <a:r>
              <a:t>누적 고객 질문 · 2026년 10월 기준</a:t>
            </a:r>
          </a:p>
          <a:p xmlns:a="http://schemas.openxmlformats.org/drawingml/2006/main">
            <a:r>
              <a:t>화면 출처: 한국금융IT_전략QA게시판_소개서_2026년도_8월.pptx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HTS와 MTS에서 만나는 전략Q&amp;A</a:t>
            </a:r>
          </a:p>
          <a:p xmlns:a="http://schemas.openxmlformats.org/drawingml/2006/main">
            <a:r>
              <a:t>HTS  게시글 조회·검색</a:t>
            </a:r>
          </a:p>
          <a:p xmlns:a="http://schemas.openxmlformats.org/drawingml/2006/main">
            <a:r>
              <a:t>MTS  전략Q&amp;A 게시판</a:t>
            </a:r>
          </a:p>
          <a:p xmlns:a="http://schemas.openxmlformats.org/drawingml/2006/main">
            <a:r>
              <a:t>게시글 조회·검색, 문의 작성, 수정·삭제, FAQ 제공</a:t>
            </a:r>
          </a:p>
          <a:p xmlns:a="http://schemas.openxmlformats.org/drawingml/2006/main">
            <a:r>
              <a:t>화면 출처: 한국금융IT_전략QA게시판_소개서_2026년도_8월.pptx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고객의 요청 조건이 실제 전략으로 이어집니다</a:t>
            </a:r>
          </a:p>
          <a:p xmlns:a="http://schemas.openxmlformats.org/drawingml/2006/main">
            <a:r>
              <a:t>01  고객의 전략의뢰</a:t>
            </a:r>
          </a:p>
          <a:p xmlns:a="http://schemas.openxmlformats.org/drawingml/2006/main">
            <a:r>
              <a:t>02  요청 조건 분석·전략 작성</a:t>
            </a:r>
          </a:p>
          <a:p xmlns:a="http://schemas.openxmlformats.org/drawingml/2006/main">
            <a:r>
              <a:t>03  전문인력의 답변</a:t>
            </a:r>
          </a:p>
          <a:p xmlns:a="http://schemas.openxmlformats.org/drawingml/2006/main">
            <a:r>
              <a:t>04  전략선물 요청 시 고객에게 전달</a:t>
            </a:r>
          </a:p>
          <a:p xmlns:a="http://schemas.openxmlformats.org/drawingml/2006/main">
            <a:r>
              <a:t>화면 출처: 한국금융IT_전략QA게시판_소개서_2026년도_8월.pptx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 중 생긴 질문을 실제 설정 화면으로 해결합니다</a:t>
            </a:r>
          </a:p>
          <a:p xmlns:a="http://schemas.openxmlformats.org/drawingml/2006/main">
            <a:r>
              <a:t>01  고객의 사용문의</a:t>
            </a:r>
          </a:p>
          <a:p xmlns:a="http://schemas.openxmlformats.org/drawingml/2006/main">
            <a:r>
              <a:t>02  사용 상황·설정 확인</a:t>
            </a:r>
          </a:p>
          <a:p xmlns:a="http://schemas.openxmlformats.org/drawingml/2006/main">
            <a:r>
              <a:t>03  사용방법 답변</a:t>
            </a:r>
          </a:p>
          <a:p xmlns:a="http://schemas.openxmlformats.org/drawingml/2006/main">
            <a:r>
              <a:t>문의 내용과 사용 상황을 확인해 구체적인 방법을 안내합니다.</a:t>
            </a:r>
          </a:p>
          <a:p xmlns:a="http://schemas.openxmlformats.org/drawingml/2006/main">
            <a:r>
              <a:t>화면 출처: 한국금융IT_전략QA게시판_소개서_2026년도_8월.pptx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자주 묻는 질문과 전략 활용법을 화면으로 안내합니다</a:t>
            </a:r>
          </a:p>
          <a:p xmlns:a="http://schemas.openxmlformats.org/drawingml/2006/main">
            <a:r>
              <a:t>전략FAQ 게시글 목록</a:t>
            </a:r>
          </a:p>
          <a:p xmlns:a="http://schemas.openxmlformats.org/drawingml/2006/main">
            <a:r>
              <a:t>조건 설정과 활용방법을 설명하는 게시글</a:t>
            </a:r>
          </a:p>
          <a:p xmlns:a="http://schemas.openxmlformats.org/drawingml/2006/main">
            <a:r>
              <a:t>고객이 필요한 정보를</a:t>
            </a:r>
            <a:br/>
            <a:r>
              <a:t>게시판에서 직접 확인합니다</a:t>
            </a:r>
          </a:p>
          <a:p xmlns:a="http://schemas.openxmlformats.org/drawingml/2006/main">
            <a:r>
              <a:t>전략FAQ와 조건검색 사용법을 제공합니다.</a:t>
            </a:r>
          </a:p>
          <a:p xmlns:a="http://schemas.openxmlformats.org/drawingml/2006/main">
            <a:r>
              <a:t>화면 출처: 한국금융IT_전략QA게시판_소개서_2026년도_8월.pptx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c08e2a92254d7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97dee11c944f67" /><Relationship Type="http://schemas.openxmlformats.org/officeDocument/2006/relationships/image" Target="/ppt/media/image.png" Id="Rf898d32bdf4d40fe" /><Relationship Type="http://schemas.openxmlformats.org/officeDocument/2006/relationships/image" Target="/ppt/media/image2.png" Id="R793deea3e9544083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슬라이드 번호 개체 틀 2">
            <a:extLst xmlns:a="http://schemas.openxmlformats.org/drawingml/2006/main">
              <a:ext uri="{FF2B5EF4-FFF2-40B4-BE49-F238E27FC236}">
                <a16:creationId xmlns:a16="http://schemas.microsoft.com/office/drawing/2014/main" id="{08B09F09-3A9B-447A-8437-6D7B5237F2C2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1052669" y="6366745"/>
            <a:ext cx="612741" cy="315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miter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 marL="0" indent="0" algn="r" defTabSz="914400">
              <a:buNone/>
              <a:defRPr sz="900" b="1" kern="1200">
                <a:solidFill>
                  <a:srgbClr val="003366"/>
                </a:solidFill>
                <a:latin typeface="Urbanist"/>
                <a:ea typeface="Urbanist"/>
                <a:cs typeface="Urbanist"/>
              </a:defRPr>
            </a:lvl1pPr>
          </a:lstStyle>
          <a:p xmlns:a="http://schemas.openxmlformats.org/drawingml/2006/main">
            <a:fld id="{718978F8-0755-43CA-83FD-9959296336B8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DEFAULT">
  <p:cSld name="1_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Google Shape;7;p2">
            <a:extLst xmlns:a="http://schemas.openxmlformats.org/drawingml/2006/main">
              <a:ext uri="{FF2B5EF4-FFF2-40B4-BE49-F238E27FC236}">
                <a16:creationId xmlns:a16="http://schemas.microsoft.com/office/drawing/2014/main" id="{11285719-777A-49F7-9505-CE3380E17B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898d32bdf4d40f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1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" name="Google Shape;8;p2">
            <a:extLst xmlns:a="http://schemas.openxmlformats.org/drawingml/2006/main">
              <a:ext uri="{FF2B5EF4-FFF2-40B4-BE49-F238E27FC236}">
                <a16:creationId xmlns:a16="http://schemas.microsoft.com/office/drawing/2014/main" id="{E10C9237-58F7-4948-8F8F-71176BC0B9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93deea3e954408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6342611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3c14f7e33549cd" /><Relationship Type="http://schemas.openxmlformats.org/officeDocument/2006/relationships/slideLayout" Target="/ppt/slideLayouts/slideLayout1.xml" Id="Ra6b34e781a974750" /><Relationship Type="http://schemas.openxmlformats.org/officeDocument/2006/relationships/slideLayout" Target="/ppt/slideLayouts/slideLayout2.xml" Id="Ra2465c1171084a6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b34e781a974750"/>
    <p:sldLayoutId xmlns:r="http://schemas.openxmlformats.org/officeDocument/2006/relationships" id="2147483650" r:id="Ra2465c1171084a66"/>
  </p:sldLayoutIdLst>
  <p:hf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b1c18bcb7c4c60" /><Relationship Type="http://schemas.openxmlformats.org/officeDocument/2006/relationships/image" Target="/ppt/media/image3.png" Id="Rf5e68b8679cc4e70" /><Relationship Type="http://schemas.openxmlformats.org/officeDocument/2006/relationships/image" Target="/ppt/media/image4.png" Id="Rb4bccd40ba704896" /><Relationship Type="http://schemas.openxmlformats.org/officeDocument/2006/relationships/image" Target="/ppt/media/image5.png" Id="R49a30fb329334a1c" /><Relationship Type="http://schemas.openxmlformats.org/officeDocument/2006/relationships/notesSlide" Target="/ppt/notesSlides/notesSlide1.xml" Id="R07f8b83117ce40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6c6d31caa645a6" /><Relationship Type="http://schemas.openxmlformats.org/officeDocument/2006/relationships/image" Target="/ppt/media/image6.png" Id="R55855aa6d0c94a24" /><Relationship Type="http://schemas.openxmlformats.org/officeDocument/2006/relationships/image" Target="/ppt/media/image7.png" Id="R9e9fba52b96e438b" /><Relationship Type="http://schemas.openxmlformats.org/officeDocument/2006/relationships/notesSlide" Target="/ppt/notesSlides/notesSlide2.xml" Id="R3508cd8606c14c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8080dfe1c84510" /><Relationship Type="http://schemas.openxmlformats.org/officeDocument/2006/relationships/image" Target="/ppt/media/image8.png" Id="R148a21928d4c421c" /><Relationship Type="http://schemas.openxmlformats.org/officeDocument/2006/relationships/image" Target="/ppt/media/image3.png" Id="R468db68ad21c46f7" /><Relationship Type="http://schemas.openxmlformats.org/officeDocument/2006/relationships/notesSlide" Target="/ppt/notesSlides/notesSlide3.xml" Id="Rcc1caffdac894b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02932127714b70" /><Relationship Type="http://schemas.openxmlformats.org/officeDocument/2006/relationships/image" Target="/ppt/media/image9.png" Id="R4e9c705449384166" /><Relationship Type="http://schemas.openxmlformats.org/officeDocument/2006/relationships/image" Target="/ppt/media/image10.png" Id="Rfc5853c92a6144b1" /><Relationship Type="http://schemas.openxmlformats.org/officeDocument/2006/relationships/image" Target="/ppt/media/image11.png" Id="Rf3a13ded873c4910" /><Relationship Type="http://schemas.openxmlformats.org/officeDocument/2006/relationships/notesSlide" Target="/ppt/notesSlides/notesSlide4.xml" Id="R30d7913d730543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4f24deec634617" /><Relationship Type="http://schemas.openxmlformats.org/officeDocument/2006/relationships/image" Target="/ppt/media/image9.png" Id="R6bcda31aa4e54313" /><Relationship Type="http://schemas.openxmlformats.org/officeDocument/2006/relationships/image" Target="/ppt/media/image10.png" Id="R5bbdc8a0489145f7" /><Relationship Type="http://schemas.openxmlformats.org/officeDocument/2006/relationships/image" Target="/ppt/media/image12.png" Id="Rd255bc95066a4670" /><Relationship Type="http://schemas.openxmlformats.org/officeDocument/2006/relationships/notesSlide" Target="/ppt/notesSlides/notesSlide5.xml" Id="R3f493996d17945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9136014eb14594" /><Relationship Type="http://schemas.openxmlformats.org/officeDocument/2006/relationships/image" Target="/ppt/media/image8.png" Id="R9814f294176c4b7c" /><Relationship Type="http://schemas.openxmlformats.org/officeDocument/2006/relationships/image" Target="/ppt/media/image3.png" Id="R8574ec51e0564e9f" /><Relationship Type="http://schemas.openxmlformats.org/officeDocument/2006/relationships/notesSlide" Target="/ppt/notesSlides/notesSlide6.xml" Id="R1904dd374ccb49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f0dd9637e94b86" /><Relationship Type="http://schemas.openxmlformats.org/officeDocument/2006/relationships/image" Target="/ppt/media/image9.png" Id="Rf1f19a1e350143a4" /><Relationship Type="http://schemas.openxmlformats.org/officeDocument/2006/relationships/image" Target="/ppt/media/image10.png" Id="Rc7b7753bfc254b9a" /><Relationship Type="http://schemas.openxmlformats.org/officeDocument/2006/relationships/image" Target="/ppt/media/image13.png" Id="Re271328d7b404ce8" /><Relationship Type="http://schemas.openxmlformats.org/officeDocument/2006/relationships/image" Target="/ppt/media/image14.png" Id="Rb586d9171637472b" /><Relationship Type="http://schemas.openxmlformats.org/officeDocument/2006/relationships/image" Target="/ppt/media/image15.png" Id="Rdcd023bd9ffa480d" /><Relationship Type="http://schemas.openxmlformats.org/officeDocument/2006/relationships/notesSlide" Target="/ppt/notesSlides/notesSlide7.xml" Id="Rcd3115856c3e4d1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0b46f1d8aa4a4a" /><Relationship Type="http://schemas.openxmlformats.org/officeDocument/2006/relationships/image" Target="/ppt/media/image9.png" Id="R9c2443edef1446bb" /><Relationship Type="http://schemas.openxmlformats.org/officeDocument/2006/relationships/image" Target="/ppt/media/image10.png" Id="Rb1f008ff8a9d40e1" /><Relationship Type="http://schemas.openxmlformats.org/officeDocument/2006/relationships/image" Target="/ppt/media/image16.png" Id="R4898ae549ed04b02" /><Relationship Type="http://schemas.openxmlformats.org/officeDocument/2006/relationships/image" Target="/ppt/media/image17.png" Id="Rdf285ea0448a4323" /><Relationship Type="http://schemas.openxmlformats.org/officeDocument/2006/relationships/image" Target="/ppt/media/image18.png" Id="Rd8815f6e22a14fea" /><Relationship Type="http://schemas.openxmlformats.org/officeDocument/2006/relationships/image" Target="/ppt/media/image19.png" Id="Re9ad30cde05649d2" /><Relationship Type="http://schemas.openxmlformats.org/officeDocument/2006/relationships/image" Target="/ppt/media/image20.png" Id="Rdcd3212b645d4f8d" /><Relationship Type="http://schemas.openxmlformats.org/officeDocument/2006/relationships/image" Target="/ppt/media/image21.png" Id="R09a593c5562f4306" /><Relationship Type="http://schemas.openxmlformats.org/officeDocument/2006/relationships/notesSlide" Target="/ppt/notesSlides/notesSlide8.xml" Id="R2352819033de45c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aff4d4f4c04d96" /><Relationship Type="http://schemas.openxmlformats.org/officeDocument/2006/relationships/image" Target="/ppt/media/image9.png" Id="Rdb5b9251187e413f" /><Relationship Type="http://schemas.openxmlformats.org/officeDocument/2006/relationships/image" Target="/ppt/media/image10.png" Id="Rb729e00d95064bfa" /><Relationship Type="http://schemas.openxmlformats.org/officeDocument/2006/relationships/image" Target="/ppt/media/image22.png" Id="R2c95e3d14473478f" /><Relationship Type="http://schemas.openxmlformats.org/officeDocument/2006/relationships/image" Target="/ppt/media/image23.png" Id="R89db333abce04000" /><Relationship Type="http://schemas.openxmlformats.org/officeDocument/2006/relationships/image" Target="/ppt/media/image24.png" Id="R4699353dc8c44fa2" /><Relationship Type="http://schemas.openxmlformats.org/officeDocument/2006/relationships/image" Target="/ppt/media/image15.png" Id="Re5b7268fcebb4826" /><Relationship Type="http://schemas.openxmlformats.org/officeDocument/2006/relationships/notesSlide" Target="/ppt/notesSlides/notesSlide9.xml" Id="R287056d21f5e467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16f5f983fd4a73" /><Relationship Type="http://schemas.openxmlformats.org/officeDocument/2006/relationships/image" Target="/ppt/media/image8.png" Id="R2a5ddf0330c34422" /><Relationship Type="http://schemas.openxmlformats.org/officeDocument/2006/relationships/image" Target="/ppt/media/image3.png" Id="R8a569d973e8c42c9" /><Relationship Type="http://schemas.openxmlformats.org/officeDocument/2006/relationships/notesSlide" Target="/ppt/notesSlides/notesSlide10.xml" Id="Ra32534f6e657426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ef55038b76417f" /><Relationship Type="http://schemas.openxmlformats.org/officeDocument/2006/relationships/image" Target="/ppt/media/image9.png" Id="R8bac039aba594ee9" /><Relationship Type="http://schemas.openxmlformats.org/officeDocument/2006/relationships/image" Target="/ppt/media/image10.png" Id="R197c51ebb9ad49bf" /><Relationship Type="http://schemas.openxmlformats.org/officeDocument/2006/relationships/image" Target="/ppt/media/image25.png" Id="R275e4001d68a4708" /><Relationship Type="http://schemas.openxmlformats.org/officeDocument/2006/relationships/image" Target="/ppt/media/image26.png" Id="Re03d91153ded4dd5" /><Relationship Type="http://schemas.openxmlformats.org/officeDocument/2006/relationships/notesSlide" Target="/ppt/notesSlides/notesSlide11.xml" Id="R45bc7a5b5853489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f011fcab91417a" /><Relationship Type="http://schemas.openxmlformats.org/officeDocument/2006/relationships/image" Target="/ppt/media/image9.png" Id="R9b7ce49fcfb247b2" /><Relationship Type="http://schemas.openxmlformats.org/officeDocument/2006/relationships/image" Target="/ppt/media/image10.png" Id="R0c29769f9cef4327" /><Relationship Type="http://schemas.openxmlformats.org/officeDocument/2006/relationships/image" Target="/ppt/media/image27.png" Id="Re918faa7a76f4a7e" /><Relationship Type="http://schemas.openxmlformats.org/officeDocument/2006/relationships/image" Target="/ppt/media/image28.png" Id="Rcf27d0f4b467446f" /><Relationship Type="http://schemas.openxmlformats.org/officeDocument/2006/relationships/image" Target="/ppt/media/image29.png" Id="R1c3a0526a8c8481a" /><Relationship Type="http://schemas.openxmlformats.org/officeDocument/2006/relationships/notesSlide" Target="/ppt/notesSlides/notesSlide12.xml" Id="Rbfc4f8c46685414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a8c8cd70f74a8d" /><Relationship Type="http://schemas.openxmlformats.org/officeDocument/2006/relationships/image" Target="/ppt/media/image9.png" Id="Ref27b43b6c9d4da8" /><Relationship Type="http://schemas.openxmlformats.org/officeDocument/2006/relationships/image" Target="/ppt/media/image10.png" Id="R79f146edbaeb4f1d" /><Relationship Type="http://schemas.openxmlformats.org/officeDocument/2006/relationships/image" Target="/ppt/media/image30.png" Id="R1037542fcc024c76" /><Relationship Type="http://schemas.openxmlformats.org/officeDocument/2006/relationships/image" Target="/ppt/media/image31.png" Id="R865cceaef3b0445c" /><Relationship Type="http://schemas.openxmlformats.org/officeDocument/2006/relationships/image" Target="/ppt/media/image32.png" Id="R2847862fb7f84ad0" /><Relationship Type="http://schemas.openxmlformats.org/officeDocument/2006/relationships/notesSlide" Target="/ppt/notesSlides/notesSlide13.xml" Id="R07bfeaedc37e4ea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7d3b5d346f4916" /><Relationship Type="http://schemas.openxmlformats.org/officeDocument/2006/relationships/image" Target="/ppt/media/image9.png" Id="Rd8407cdbdd9d4dbf" /><Relationship Type="http://schemas.openxmlformats.org/officeDocument/2006/relationships/image" Target="/ppt/media/image10.png" Id="Rf4330c1292564f1c" /><Relationship Type="http://schemas.openxmlformats.org/officeDocument/2006/relationships/image" Target="/ppt/media/image33.png" Id="R44188c63eb6249d8" /><Relationship Type="http://schemas.openxmlformats.org/officeDocument/2006/relationships/image" Target="/ppt/media/image34.png" Id="Ra567d48dce4b4e45" /><Relationship Type="http://schemas.openxmlformats.org/officeDocument/2006/relationships/notesSlide" Target="/ppt/notesSlides/notesSlide14.xml" Id="Ra85ba24607f6477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0ae8984235465a" /><Relationship Type="http://schemas.openxmlformats.org/officeDocument/2006/relationships/image" Target="/ppt/media/image35.png" Id="R450b5b0b507f4a3c" /><Relationship Type="http://schemas.openxmlformats.org/officeDocument/2006/relationships/notesSlide" Target="/ppt/notesSlides/notesSlide15.xml" Id="Rc4da5ff05bfe463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FA6C14B-4860-4E81-9BB1-118DB6C09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DB4E1BD-1406-4ED1-B4B0-6F020010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>
            <a:extLst xmlns:a="http://schemas.openxmlformats.org/drawingml/2006/main">
              <a:ext uri="{FF2B5EF4-FFF2-40B4-BE49-F238E27FC236}">
                <a16:creationId xmlns:a16="http://schemas.microsoft.com/office/drawing/2014/main" id="{1F16C731-A799-42A4-8FAF-20D4465162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e68b8679cc4e70"/>
          <a:srcRect xmlns:a="http://schemas.openxmlformats.org/drawingml/2006/main" l="0" t="-420" r="0" b="-420"/>
          <a:stretch xmlns:a="http://schemas.openxmlformats.org/drawingml/2006/main"/>
        </p:blipFill>
        <p:spPr>
          <a:xfrm xmlns:a="http://schemas.openxmlformats.org/drawingml/2006/main">
            <a:off x="762000" y="4495800"/>
            <a:ext cx="762000" cy="57150"/>
          </a:xfrm>
          <a:prstGeom xmlns:a="http://schemas.openxmlformats.org/drawingml/2006/main" prst="rect">
            <a:avLst/>
          </a:prstGeom>
        </p:spPr>
      </p:pic>
      <p:sp>
        <p:nvSpPr>
          <p:cNvPr id="9" name="Text 4">
            <a:extLst xmlns:a="http://schemas.openxmlformats.org/drawingml/2006/main">
              <a:ext uri="{FF2B5EF4-FFF2-40B4-BE49-F238E27FC236}">
                <a16:creationId xmlns:a16="http://schemas.microsoft.com/office/drawing/2014/main" id="{BEB4D6A0-717A-46D8-9026-D9DC8C45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47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2647B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52647B"/>
                </a:solidFill>
                <a:latin typeface="Noto Sans KR"/>
                <a:ea typeface="Noto Sans KR"/>
                <a:cs typeface="Noto Sans KR"/>
              </a:rPr>
              <a:t>고객의 전략·조건검색 문의부터</a:t>
            </a:r>
            <a:endParaRPr sz="1600">
              <a:solidFill>
                <a:srgbClr val="4A5568"/>
              </a:solidFill>
              <a:latin typeface="Noto Sans KR"/>
              <a:ea typeface="Noto Sans KR"/>
              <a:cs typeface="Noto Sans KR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2647B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52647B"/>
                </a:solidFill>
                <a:latin typeface="Noto Sans KR"/>
                <a:ea typeface="Noto Sans KR"/>
                <a:cs typeface="Noto Sans KR"/>
              </a:rPr>
              <a:t>전략 작성 지원까지</a:t>
            </a:r>
            <a:endParaRPr sz="1600">
              <a:solidFill>
                <a:srgbClr val="4A5568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0" name="Text 5">
            <a:extLst xmlns:a="http://schemas.openxmlformats.org/drawingml/2006/main">
              <a:ext uri="{FF2B5EF4-FFF2-40B4-BE49-F238E27FC236}">
                <a16:creationId xmlns:a16="http://schemas.microsoft.com/office/drawing/2014/main" id="{50AFDB6D-8684-4E8A-8573-BE86B4FB7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619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50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pPr>
            <a:r>
              <a:rPr sz="450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rPr>
              <a:t>전략Q&amp;A 게시판</a:t>
            </a:r>
            <a:endParaRPr sz="4800">
              <a:latin typeface="Noto Sans KR"/>
              <a:ea typeface="Noto Sans KR"/>
              <a:cs typeface="Noto Sans KR"/>
            </a:endParaRPr>
          </a:p>
        </p:txBody>
      </p:sp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00D0FB4C-A8C8-4A57-9570-39044772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04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05BB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005BB5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 spc="-75">
                <a:solidFill>
                  <a:srgbClr val="005BB5"/>
                </a:solidFill>
                <a:latin typeface="Noto Sans KR"/>
                <a:ea typeface="Noto Sans KR"/>
                <a:cs typeface="Noto Sans KR"/>
              </a:rPr>
              <a:t>ASP 서비스 소개서</a:t>
            </a:r>
            <a:endParaRPr sz="4800" b="1" kern="0" spc="-75">
              <a:solidFill>
                <a:srgbClr val="0055A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5" name="Text 7">
            <a:extLst xmlns:a="http://schemas.openxmlformats.org/drawingml/2006/main">
              <a:ext uri="{FF2B5EF4-FFF2-40B4-BE49-F238E27FC236}">
                <a16:creationId xmlns:a16="http://schemas.microsoft.com/office/drawing/2014/main" id="{58C72C6B-88D2-4BDC-BECA-B0E9E970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626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marL="0" indent="0" algn="l">
              <a:lnSpc>
                <a:spcPct val="112000"/>
              </a:lnSpc>
              <a:buNone/>
              <a:defRPr sz="120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rPr>
              <a:t>한국금융IT</a:t>
            </a:r>
            <a:endParaRPr sz="1200"/>
          </a:p>
        </p:txBody>
      </p:sp>
      <p:sp>
        <p:nvSpPr>
          <p:cNvPr id="16" name="Text 8">
            <a:extLst xmlns:a="http://schemas.openxmlformats.org/drawingml/2006/main">
              <a:ext uri="{FF2B5EF4-FFF2-40B4-BE49-F238E27FC236}">
                <a16:creationId xmlns:a16="http://schemas.microsoft.com/office/drawing/2014/main" id="{3F1AF848-F848-46CC-AD98-695FD33D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562600"/>
            <a:ext cx="9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200">
                <a:solidFill>
                  <a:srgbClr val="CBD5E0"/>
                </a:solidFill>
                <a:latin typeface="Noto Sans KR"/>
                <a:ea typeface="Noto Sans KR"/>
                <a:cs typeface="Noto Sans KR"/>
              </a:rPr>
              <a:t/>
            </a:r>
            <a:endParaRPr sz="1200"/>
          </a:p>
        </p:txBody>
      </p:sp>
      <p:sp>
        <p:nvSpPr>
          <p:cNvPr id="17" name="Text 9">
            <a:extLst xmlns:a="http://schemas.openxmlformats.org/drawingml/2006/main">
              <a:ext uri="{FF2B5EF4-FFF2-40B4-BE49-F238E27FC236}">
                <a16:creationId xmlns:a16="http://schemas.microsoft.com/office/drawing/2014/main" id="{B0AA08E0-AF95-47CC-BE6C-460178136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5626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47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marL="0" indent="0" algn="l">
              <a:lnSpc>
                <a:spcPct val="112000"/>
              </a:lnSpc>
              <a:buNone/>
              <a:defRPr sz="1200" b="0">
                <a:solidFill>
                  <a:srgbClr val="52647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52647B"/>
                </a:solidFill>
                <a:latin typeface="Noto Sans KR"/>
                <a:ea typeface="Noto Sans KR"/>
                <a:cs typeface="Noto Sans KR"/>
              </a:rPr>
              <a:t>2026.10</a:t>
            </a:r>
            <a:endParaRPr sz="1200"/>
          </a:p>
        </p:txBody>
      </p:sp>
      <p:sp>
        <p:nvSpPr>
          <p:cNvPr id="19" name="Text 3">
            <a:extLst xmlns:a="http://schemas.openxmlformats.org/drawingml/2006/main">
              <a:ext uri="{FF2B5EF4-FFF2-40B4-BE49-F238E27FC236}">
                <a16:creationId xmlns:a16="http://schemas.microsoft.com/office/drawing/2014/main" id="{B27F26A6-CCD6-47FF-98E3-42E45A83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2000" y="1066800"/>
            <a:ext cx="514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005BB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marL="0" indent="0" algn="l">
              <a:lnSpc>
                <a:spcPct val="112000"/>
              </a:lnSpc>
              <a:buNone/>
              <a:defRPr sz="1050" b="1">
                <a:solidFill>
                  <a:srgbClr val="005BB5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spc="38">
                <a:solidFill>
                  <a:srgbClr val="005BB5"/>
                </a:solidFill>
                <a:latin typeface="Noto Sans KR"/>
                <a:ea typeface="Noto Sans KR"/>
                <a:cs typeface="Noto Sans KR"/>
              </a:rPr>
              <a:t>STRATEGIC PROPOSAL 2026</a:t>
            </a:r>
            <a:endParaRPr sz="1000"/>
          </a:p>
        </p:txBody>
      </p:sp>
      <p:pic>
        <p:nvPicPr>
          <p:cNvPr id="4" name="그림 3">
            <a:extLst xmlns:a="http://schemas.openxmlformats.org/drawingml/2006/main">
              <a:ext uri="{FF2B5EF4-FFF2-40B4-BE49-F238E27FC236}">
                <a16:creationId xmlns:a16="http://schemas.microsoft.com/office/drawing/2014/main" id="{63E1024D-F001-45C1-8244-5A134A6096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bccd40ba7048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25793" y="0"/>
            <a:ext cx="4879465" cy="6858000"/>
          </a:xfrm>
          <a:prstGeom xmlns:a="http://schemas.openxmlformats.org/drawingml/2006/main" prst="rect">
            <a:avLst/>
          </a:prstGeom>
        </p:spPr>
      </p:pic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F2ACE94F-850C-4139-8F7A-3F46E2B19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91225"/>
            <a:ext cx="5334000" cy="2450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7B899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7B899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B899B"/>
                </a:solidFill>
                <a:latin typeface="Noto Sans KR"/>
                <a:ea typeface="Noto Sans KR"/>
                <a:cs typeface="Noto Sans KR"/>
              </a:rPr>
              <a:t>LAST UPDATE  2026.10.07</a:t>
            </a:r>
            <a:endParaRPr sz="1100">
              <a:latin typeface="Noto Sans KR"/>
              <a:ea typeface="Noto Sans KR"/>
              <a:cs typeface="Noto Sans KR"/>
            </a:endParaRPr>
          </a:p>
        </p:txBody>
      </p:sp>
      <p:pic>
        <p:nvPicPr>
          <p:cNvPr id="7" name="Image 2">
            <a:extLst xmlns:a="http://schemas.openxmlformats.org/drawingml/2006/main">
              <a:ext uri="{FF2B5EF4-FFF2-40B4-BE49-F238E27FC236}">
                <a16:creationId xmlns:a16="http://schemas.microsoft.com/office/drawing/2014/main" id="{E6DDCA04-162A-4E83-8A6F-A98BAA96C1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a30fb329334a1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277100" y="0"/>
            <a:ext cx="486674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14937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99113EE2-07F0-4463-A83A-6ACAAD3C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5BB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marL="0" indent="0" algn="l">
              <a:lnSpc>
                <a:spcPct val="112000"/>
              </a:lnSpc>
              <a:buNone/>
              <a:defRPr sz="1875" b="1">
                <a:solidFill>
                  <a:srgbClr val="005BB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 spc="-37">
                <a:solidFill>
                  <a:srgbClr val="005BB5"/>
                </a:solidFill>
                <a:latin typeface="Noto Sans KR"/>
                <a:ea typeface="Noto Sans KR"/>
                <a:cs typeface="Noto Sans KR"/>
              </a:rPr>
              <a:t>01</a:t>
            </a:r>
            <a:endParaRPr>
              <a:latin typeface="Noto Sans KR"/>
              <a:ea typeface="Noto Sans KR"/>
              <a:cs typeface="Noto Sans KR"/>
            </a:endParaRPr>
          </a:p>
        </p:txBody>
      </p:sp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895DADFD-524C-46F4-9A58-BA58A494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19400"/>
            <a:ext cx="5476875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 spc="-37">
                <a:solidFill>
                  <a:srgbClr val="07335E"/>
                </a:solidFill>
                <a:latin typeface="Noto Sans KR"/>
                <a:ea typeface="Noto Sans KR"/>
                <a:cs typeface="Noto Sans KR"/>
              </a:rPr>
              <a:t>서비스 개요</a:t>
            </a:r>
            <a:endParaRPr b="1" kern="0" spc="-37">
              <a:solidFill>
                <a:srgbClr val="002244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CFF98F05-962C-4B68-BFD5-0C312A823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9525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5BB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marL="0" indent="0" algn="l">
              <a:lnSpc>
                <a:spcPct val="112000"/>
              </a:lnSpc>
              <a:buNone/>
              <a:defRPr sz="1875" b="1">
                <a:solidFill>
                  <a:srgbClr val="005BB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 spc="-37">
                <a:solidFill>
                  <a:srgbClr val="005BB5"/>
                </a:solidFill>
                <a:latin typeface="Noto Sans KR"/>
                <a:ea typeface="Noto Sans KR"/>
                <a:cs typeface="Noto Sans KR"/>
              </a:rPr>
              <a:t>02</a:t>
            </a:r>
            <a:endParaRPr>
              <a:latin typeface="Noto Sans KR"/>
              <a:ea typeface="Noto Sans KR"/>
              <a:cs typeface="Noto Sans KR"/>
            </a:endParaRPr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074FAD43-5B4C-43F9-82D7-572BAC33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19525"/>
            <a:ext cx="5476875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rPr>
              <a:t>서비스 특징 및 운영 현황</a:t>
            </a:r>
            <a:endParaRPr>
              <a:latin typeface="Noto Sans KR"/>
              <a:ea typeface="Noto Sans KR"/>
              <a:cs typeface="Noto Sans KR"/>
            </a:endParaRPr>
          </a:p>
        </p:txBody>
      </p:sp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A8C4135A-D9A6-49AB-960A-B3FED0DC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1945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47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47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2647B"/>
                </a:solidFill>
                <a:latin typeface="Noto Sans KR"/>
                <a:ea typeface="Noto Sans KR"/>
                <a:cs typeface="Noto Sans KR"/>
              </a:rPr>
              <a:t>전략Q&amp;A 게시판의 필요성과 서비스 소개</a:t>
            </a:r>
            <a:endParaRPr sz="1200">
              <a:latin typeface="Noto Sans KR"/>
              <a:ea typeface="Noto Sans KR"/>
              <a:cs typeface="Noto Sans KR"/>
            </a:endParaRP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9C88A740-5F47-4958-AD63-3B4546A8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900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marL="0" indent="0" algn="r">
              <a:buNone/>
              <a:defRPr sz="900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rPr>
              <a:t>02</a:t>
            </a:r>
            <a:endParaRPr sz="1000">
              <a:latin typeface="나눔스퀘어OTF_ac Bold"/>
              <a:ea typeface="나눔스퀘어OTF_ac Bold"/>
              <a:cs typeface="나눔스퀘어OTF_ac Bold"/>
            </a:endParaRPr>
          </a:p>
        </p:txBody>
      </p:sp>
      <p:sp>
        <p:nvSpPr>
          <p:cNvPr id="25" name="Text 6">
            <a:extLst xmlns:a="http://schemas.openxmlformats.org/drawingml/2006/main">
              <a:ext uri="{FF2B5EF4-FFF2-40B4-BE49-F238E27FC236}">
                <a16:creationId xmlns:a16="http://schemas.microsoft.com/office/drawing/2014/main" id="{2AE25B96-05BC-464B-9E86-6A41CF9F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5BB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marL="0" indent="0" algn="l">
              <a:lnSpc>
                <a:spcPct val="112000"/>
              </a:lnSpc>
              <a:buNone/>
              <a:defRPr sz="1875" b="1">
                <a:solidFill>
                  <a:srgbClr val="005BB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 spc="-37">
                <a:solidFill>
                  <a:srgbClr val="005BB5"/>
                </a:solidFill>
                <a:latin typeface="Noto Sans KR"/>
                <a:ea typeface="Noto Sans KR"/>
                <a:cs typeface="Noto Sans KR"/>
              </a:rPr>
              <a:t>03</a:t>
            </a:r>
            <a:endParaRPr>
              <a:latin typeface="Noto Sans KR"/>
              <a:ea typeface="Noto Sans KR"/>
              <a:cs typeface="Noto Sans KR"/>
            </a:endParaRPr>
          </a:p>
        </p:txBody>
      </p:sp>
      <p:sp>
        <p:nvSpPr>
          <p:cNvPr id="26" name="Text 7">
            <a:extLst xmlns:a="http://schemas.openxmlformats.org/drawingml/2006/main">
              <a:ext uri="{FF2B5EF4-FFF2-40B4-BE49-F238E27FC236}">
                <a16:creationId xmlns:a16="http://schemas.microsoft.com/office/drawing/2014/main" id="{3B1B0AED-6FFC-452C-9E5C-6EBA2809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19650"/>
            <a:ext cx="5476875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rPr>
              <a:t>서비스 구성 및 활용 사례</a:t>
            </a:r>
            <a:endParaRPr>
              <a:latin typeface="Noto Sans KR"/>
              <a:ea typeface="Noto Sans KR"/>
              <a:cs typeface="Noto Sans KR"/>
            </a:endParaRPr>
          </a:p>
        </p:txBody>
      </p:sp>
      <p:sp>
        <p:nvSpPr>
          <p:cNvPr id="31" name="Text 12">
            <a:extLst xmlns:a="http://schemas.openxmlformats.org/drawingml/2006/main">
              <a:ext uri="{FF2B5EF4-FFF2-40B4-BE49-F238E27FC236}">
                <a16:creationId xmlns:a16="http://schemas.microsoft.com/office/drawing/2014/main" id="{E3859952-0DC2-431D-AD62-46A885398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19575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47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47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2647B"/>
                </a:solidFill>
                <a:latin typeface="Noto Sans KR"/>
                <a:ea typeface="Noto Sans KR"/>
                <a:cs typeface="Noto Sans KR"/>
              </a:rPr>
              <a:t>주요 특징 및 고객사·운영 현황</a:t>
            </a:r>
            <a:endParaRPr sz="1200">
              <a:latin typeface="Noto Sans KR"/>
              <a:ea typeface="Noto Sans KR"/>
              <a:cs typeface="Noto Sans KR"/>
            </a:endParaRPr>
          </a:p>
        </p:txBody>
      </p:sp>
      <p:sp>
        <p:nvSpPr>
          <p:cNvPr id="34" name="Text 12">
            <a:extLst xmlns:a="http://schemas.openxmlformats.org/drawingml/2006/main">
              <a:ext uri="{FF2B5EF4-FFF2-40B4-BE49-F238E27FC236}">
                <a16:creationId xmlns:a16="http://schemas.microsoft.com/office/drawing/2014/main" id="{CA78FC39-3871-4C8C-A66A-13766DDA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2197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47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47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2647B"/>
                </a:solidFill>
                <a:latin typeface="Noto Sans KR"/>
                <a:ea typeface="Noto Sans KR"/>
                <a:cs typeface="Noto Sans KR"/>
              </a:rPr>
              <a:t>HTS·MTS 구성, 전략의뢰, 사용문의, FAQ</a:t>
            </a:r>
            <a:endParaRPr sz="1200">
              <a:solidFill>
                <a:srgbClr val="718096"/>
              </a:solidFill>
              <a:latin typeface="Noto Sans KR"/>
              <a:ea typeface="Noto Sans KR"/>
              <a:cs typeface="Noto Sans KR"/>
            </a:endParaRPr>
          </a:p>
        </p:txBody>
      </p:sp>
      <p:pic>
        <p:nvPicPr>
          <p:cNvPr id="33" name="Image 0">
            <a:extLst xmlns:a="http://schemas.openxmlformats.org/drawingml/2006/main">
              <a:ext uri="{FF2B5EF4-FFF2-40B4-BE49-F238E27FC236}">
                <a16:creationId xmlns:a16="http://schemas.microsoft.com/office/drawing/2014/main" id="{1447A225-BE73-49ED-9AD8-807EB76280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855aa6d0c94a24"/>
          <a:srcRect xmlns:a="http://schemas.openxmlformats.org/drawingml/2006/main" l="-80" t="0" r="-80" b="0"/>
          <a:stretch xmlns:a="http://schemas.openxmlformats.org/drawingml/2006/main"/>
        </p:blipFill>
        <p:spPr>
          <a:xfrm xmlns:a="http://schemas.openxmlformats.org/drawingml/2006/main">
            <a:off x="762000" y="2333625"/>
            <a:ext cx="571500" cy="47625"/>
          </a:xfrm>
          <a:prstGeom xmlns:a="http://schemas.openxmlformats.org/drawingml/2006/main" prst="rect">
            <a:avLst/>
          </a:prstGeom>
        </p:spPr>
      </p:pic>
      <p:sp>
        <p:nvSpPr>
          <p:cNvPr id="43" name="Text 4">
            <a:extLst xmlns:a="http://schemas.openxmlformats.org/drawingml/2006/main">
              <a:ext uri="{FF2B5EF4-FFF2-40B4-BE49-F238E27FC236}">
                <a16:creationId xmlns:a16="http://schemas.microsoft.com/office/drawing/2014/main" id="{DC36A30B-F46C-4EC9-A835-147C86B8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14425"/>
            <a:ext cx="142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marL="0" indent="0" algn="l">
              <a:lnSpc>
                <a:spcPct val="112000"/>
              </a:lnSpc>
              <a:buNone/>
              <a:defRPr sz="330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 spc="-75">
                <a:solidFill>
                  <a:srgbClr val="07335E"/>
                </a:solidFill>
                <a:latin typeface="Noto Sans KR"/>
                <a:ea typeface="Noto Sans KR"/>
                <a:cs typeface="Noto Sans KR"/>
              </a:rPr>
              <a:t>목차</a:t>
            </a:r>
            <a:endParaRPr sz="3600"/>
          </a:p>
        </p:txBody>
      </p:sp>
      <p:sp>
        <p:nvSpPr>
          <p:cNvPr id="44" name="Text 5">
            <a:extLst xmlns:a="http://schemas.openxmlformats.org/drawingml/2006/main">
              <a:ext uri="{FF2B5EF4-FFF2-40B4-BE49-F238E27FC236}">
                <a16:creationId xmlns:a16="http://schemas.microsoft.com/office/drawing/2014/main" id="{020238FF-FC6A-4A5A-9F01-A03F13B1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7B899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marL="0" indent="0" algn="l">
              <a:lnSpc>
                <a:spcPct val="112000"/>
              </a:lnSpc>
              <a:buNone/>
              <a:defRPr sz="1500" b="0">
                <a:solidFill>
                  <a:srgbClr val="7B899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spc="-75">
                <a:solidFill>
                  <a:srgbClr val="7B899B"/>
                </a:solidFill>
                <a:latin typeface="Noto Sans KR"/>
                <a:ea typeface="Noto Sans KR"/>
                <a:cs typeface="Noto Sans KR"/>
              </a:rPr>
              <a:t>Contents</a:t>
            </a:r>
            <a:endParaRPr sz="3600"/>
          </a:p>
        </p:txBody>
      </p:sp>
      <p:sp>
        <p:nvSpPr>
          <p:cNvPr id="45" name="Text 51">
            <a:extLst xmlns:a="http://schemas.openxmlformats.org/drawingml/2006/main">
              <a:ext uri="{FF2B5EF4-FFF2-40B4-BE49-F238E27FC236}">
                <a16:creationId xmlns:a16="http://schemas.microsoft.com/office/drawing/2014/main" id="{0443714A-F96A-4318-BE1C-D054ACBA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67475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900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marL="0" indent="0" algn="l">
              <a:buNone/>
              <a:defRPr sz="900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rPr>
              <a:t>한국금융IT</a:t>
            </a:r>
            <a:endParaRPr sz="900"/>
          </a:p>
        </p:txBody>
      </p:sp>
      <p:sp>
        <p:nvSpPr>
          <p:cNvPr id="46" name="Text 52">
            <a:extLst xmlns:a="http://schemas.openxmlformats.org/drawingml/2006/main">
              <a:ext uri="{FF2B5EF4-FFF2-40B4-BE49-F238E27FC236}">
                <a16:creationId xmlns:a16="http://schemas.microsoft.com/office/drawing/2014/main" id="{B5A64683-EECD-4E04-99C9-F0342036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6467475"/>
            <a:ext cx="1143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900">
                <a:solidFill>
                  <a:srgbClr val="C7D1DE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marL="0" indent="0" algn="l">
              <a:buNone/>
              <a:defRPr sz="900">
                <a:solidFill>
                  <a:srgbClr val="C7D1DE"/>
                </a:solidFill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C7D1DE"/>
                </a:solidFill>
                <a:latin typeface="Noto Sans KR"/>
                <a:ea typeface="Noto Sans KR"/>
                <a:cs typeface="Noto Sans KR"/>
              </a:rPr>
              <a:t>|</a:t>
            </a:r>
            <a:endParaRPr sz="900"/>
          </a:p>
        </p:txBody>
      </p:sp>
      <p:sp>
        <p:nvSpPr>
          <p:cNvPr id="47" name="Text 53">
            <a:extLst xmlns:a="http://schemas.openxmlformats.org/drawingml/2006/main">
              <a:ext uri="{FF2B5EF4-FFF2-40B4-BE49-F238E27FC236}">
                <a16:creationId xmlns:a16="http://schemas.microsoft.com/office/drawing/2014/main" id="{98A94F81-8666-4DE6-8C61-09CEA5C2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46747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900">
                <a:solidFill>
                  <a:srgbClr val="7B899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marL="0" indent="0" algn="l">
              <a:buNone/>
              <a:defRPr sz="900">
                <a:solidFill>
                  <a:srgbClr val="7B899B"/>
                </a:solidFill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7B899B"/>
                </a:solidFill>
                <a:latin typeface="Noto Sans KR"/>
                <a:ea typeface="Noto Sans KR"/>
                <a:cs typeface="Noto Sans KR"/>
              </a:rPr>
              <a:t>2026.10</a:t>
            </a:r>
            <a:endParaRPr sz="900"/>
          </a:p>
        </p:txBody>
      </p:sp>
      <p:pic>
        <p:nvPicPr>
          <p:cNvPr id="5" name="그림 4">
            <a:extLst xmlns:a="http://schemas.openxmlformats.org/drawingml/2006/main">
              <a:ext uri="{FF2B5EF4-FFF2-40B4-BE49-F238E27FC236}">
                <a16:creationId xmlns:a16="http://schemas.microsoft.com/office/drawing/2014/main" id="{E0E26898-7350-43DF-97D8-0E88FEFF24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9fba52b96e43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12535" y="0"/>
            <a:ext cx="4879465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816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Image 0">
            <a:extLst xmlns:a="http://schemas.openxmlformats.org/drawingml/2006/main">
              <a:ext uri="{FF2B5EF4-FFF2-40B4-BE49-F238E27FC236}">
                <a16:creationId xmlns:a16="http://schemas.microsoft.com/office/drawing/2014/main" id="{54ECC5B0-A620-4DA6-A160-3F5430A279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8a21928d4c421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3810305" cy="6858000"/>
          </a:xfrm>
          <a:prstGeom xmlns:a="http://schemas.openxmlformats.org/drawingml/2006/main" prst="rect">
            <a:avLst/>
          </a:prstGeom>
        </p:spPr>
      </p:pic>
      <p:pic>
        <p:nvPicPr>
          <p:cNvPr id="6" name="Image 2">
            <a:extLst xmlns:a="http://schemas.openxmlformats.org/drawingml/2006/main">
              <a:ext uri="{FF2B5EF4-FFF2-40B4-BE49-F238E27FC236}">
                <a16:creationId xmlns:a16="http://schemas.microsoft.com/office/drawing/2014/main" id="{52B285B2-DA29-4003-A741-CB9E1DD51C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8db68ad21c46f7"/>
          <a:srcRect xmlns:a="http://schemas.openxmlformats.org/drawingml/2006/main" l="0" t="-420" r="0" b="-420"/>
          <a:stretch xmlns:a="http://schemas.openxmlformats.org/drawingml/2006/main"/>
        </p:blipFill>
        <p:spPr>
          <a:xfrm xmlns:a="http://schemas.openxmlformats.org/drawingml/2006/main">
            <a:off x="4762500" y="2028825"/>
            <a:ext cx="762000" cy="57150"/>
          </a:xfrm>
          <a:prstGeom xmlns:a="http://schemas.openxmlformats.org/drawingml/2006/main" prst="rect">
            <a:avLst/>
          </a:prstGeom>
        </p:spPr>
      </p:pic>
      <p:sp>
        <p:nvSpPr>
          <p:cNvPr id="9" name="Text 2">
            <a:extLst xmlns:a="http://schemas.openxmlformats.org/drawingml/2006/main">
              <a:ext uri="{FF2B5EF4-FFF2-40B4-BE49-F238E27FC236}">
                <a16:creationId xmlns:a16="http://schemas.microsoft.com/office/drawing/2014/main" id="{B74CD202-8E3D-4900-9837-0865D1D69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2293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9AA7B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marL="0" indent="0" algn="r">
              <a:lnSpc>
                <a:spcPct val="112000"/>
              </a:lnSpc>
              <a:buNone/>
              <a:defRPr sz="900" b="0">
                <a:solidFill>
                  <a:srgbClr val="9AA7B6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spc="90">
                <a:solidFill>
                  <a:srgbClr val="9AA7B6"/>
                </a:solidFill>
                <a:latin typeface="Noto Sans KR"/>
                <a:ea typeface="Noto Sans KR"/>
                <a:cs typeface="Noto Sans KR"/>
              </a:rPr>
              <a:t>KOREA FINANCIAL IT</a:t>
            </a:r>
            <a:endParaRPr sz="900">
              <a:latin typeface="나눔스퀘어OTF_ac Bold"/>
              <a:ea typeface="나눔스퀘어OTF_ac Bold"/>
              <a:cs typeface="나눔스퀘어OTF_ac Bold"/>
            </a:endParaRPr>
          </a:p>
        </p:txBody>
      </p:sp>
      <p:sp>
        <p:nvSpPr>
          <p:cNvPr id="10" name="Text 3">
            <a:extLst xmlns:a="http://schemas.openxmlformats.org/drawingml/2006/main">
              <a:ext uri="{FF2B5EF4-FFF2-40B4-BE49-F238E27FC236}">
                <a16:creationId xmlns:a16="http://schemas.microsoft.com/office/drawing/2014/main" id="{B7B550C7-9654-4FFC-BAD0-599EE2CC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marL="0" indent="0" algn="l">
              <a:lnSpc>
                <a:spcPct val="112000"/>
              </a:lnSpc>
              <a:buNone/>
              <a:defRPr sz="13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spc="45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PART</a:t>
            </a:r>
            <a:endParaRPr sz="1600">
              <a:latin typeface="나눔스퀘어OTF_ac Bold"/>
              <a:ea typeface="나눔스퀘어OTF_ac Bold"/>
              <a:cs typeface="나눔스퀘어OTF_ac Bold"/>
            </a:endParaRPr>
          </a:p>
        </p:txBody>
      </p:sp>
      <p:sp>
        <p:nvSpPr>
          <p:cNvPr id="11" name="Text 4">
            <a:extLst xmlns:a="http://schemas.openxmlformats.org/drawingml/2006/main">
              <a:ext uri="{FF2B5EF4-FFF2-40B4-BE49-F238E27FC236}">
                <a16:creationId xmlns:a16="http://schemas.microsoft.com/office/drawing/2014/main" id="{EAFFC7A0-6360-4DEC-9A5E-7D3DB427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2476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marL="0" indent="0" algn="l">
              <a:lnSpc>
                <a:spcPct val="112000"/>
              </a:lnSpc>
              <a:buNone/>
              <a:defRPr sz="82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0" b="1" spc="-15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  <a:endParaRPr sz="9000">
              <a:latin typeface="나눔스퀘어OTF_ac Bold"/>
              <a:ea typeface="나눔스퀘어OTF_ac Bold"/>
              <a:cs typeface="나눔스퀘어OTF_ac Bold"/>
            </a:endParaRPr>
          </a:p>
        </p:txBody>
      </p:sp>
      <p:sp>
        <p:nvSpPr>
          <p:cNvPr id="12" name="Text 5">
            <a:extLst xmlns:a="http://schemas.openxmlformats.org/drawingml/2006/main">
              <a:ext uri="{FF2B5EF4-FFF2-40B4-BE49-F238E27FC236}">
                <a16:creationId xmlns:a16="http://schemas.microsoft.com/office/drawing/2014/main" id="{04103B3A-B127-4A63-A7F9-C3CC3F2F2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43175"/>
            <a:ext cx="6667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 spc="-37">
                <a:solidFill>
                  <a:srgbClr val="07335E"/>
                </a:solidFill>
                <a:latin typeface="Noto Sans KR"/>
                <a:ea typeface="Noto Sans KR"/>
                <a:cs typeface="Noto Sans KR"/>
              </a:rPr>
              <a:t>서비스 개요</a:t>
            </a:r>
            <a:endParaRPr sz="4000" b="1" kern="0" spc="-37">
              <a:solidFill>
                <a:srgbClr val="002244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7" name="슬라이드 번호 개체 틀 6">
            <a:extLst xmlns:a="http://schemas.openxmlformats.org/drawingml/2006/main">
              <a:ext uri="{FF2B5EF4-FFF2-40B4-BE49-F238E27FC236}">
                <a16:creationId xmlns:a16="http://schemas.microsoft.com/office/drawing/2014/main" id="{08B3A389-BF89-432D-9CAB-4AAA0DD00E57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1049000" y="6457950"/>
            <a:ext cx="571500" cy="190500"/>
          </a:xfrm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900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900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07335E"/>
                </a:solidFill>
                <a:latin typeface="Noto Sans KR"/>
                <a:ea typeface="Noto Sans KR"/>
                <a:cs typeface="Noto Sans KR"/>
              </a:rPr>
              <a:t>0</a:t>
            </a:r>
            <a:fld id="{718978F8-0755-43CA-83FD-9959296336B8}" type="slidenum">
              <a:rPr sz="900">
                <a:solidFill>
                  <a:srgbClr val="07335E"/>
                </a:solidFill>
                <a:latin typeface="Noto Sans KR"/>
                <a:ea typeface="Noto Sans KR"/>
                <a:cs typeface="Noto Sans KR"/>
              </a:rPr>
              <a:t>3</a:t>
            </a:fld>
            <a:endParaRPr>
              <a:latin typeface="나눔스퀘어OTF_ac Bold"/>
              <a:ea typeface="나눔스퀘어OTF_ac Bold"/>
              <a:cs typeface="나눔스퀘어OTF_ac Bold"/>
            </a:endParaRPr>
          </a:p>
        </p:txBody>
      </p:sp>
    </p:spTree>
    <p:extLst>
      <p:ext uri="{BB962C8B-B14F-4D97-AF65-F5344CB8AC3E}">
        <p14:creationId xmlns:p14="http://schemas.microsoft.com/office/powerpoint/2010/main" val="51234111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Image 0">
            <a:extLst xmlns:a="http://schemas.openxmlformats.org/drawingml/2006/main">
              <a:ext uri="{FF2B5EF4-FFF2-40B4-BE49-F238E27FC236}">
                <a16:creationId xmlns:a16="http://schemas.microsoft.com/office/drawing/2014/main" id="{E9F43771-074F-4001-9CBA-937E4DDFFE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9c705449384166"/>
          <a:srcRect xmlns:a="http://schemas.openxmlformats.org/drawingml/2006/main" l="0" t="-401" r="0" b="-401"/>
          <a:stretch xmlns:a="http://schemas.openxmlformats.org/drawingml/2006/main"/>
        </p:blipFill>
        <p:spPr>
          <a:xfrm xmlns:a="http://schemas.openxmlformats.org/drawingml/2006/main">
            <a:off x="571500" y="838200"/>
            <a:ext cx="11049000" cy="9525"/>
          </a:xfrm>
          <a:prstGeom xmlns:a="http://schemas.openxmlformats.org/drawingml/2006/main" prst="rect">
            <a:avLst/>
          </a:prstGeom>
        </p:spPr>
      </p:pic>
      <p:pic>
        <p:nvPicPr>
          <p:cNvPr id="14" name="Image 1">
            <a:extLst xmlns:a="http://schemas.openxmlformats.org/drawingml/2006/main">
              <a:ext uri="{FF2B5EF4-FFF2-40B4-BE49-F238E27FC236}">
                <a16:creationId xmlns:a16="http://schemas.microsoft.com/office/drawing/2014/main" id="{9E4EFF33-D802-4F21-9B6E-C5692EF78A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5853c92a6144b1"/>
          <a:srcRect xmlns:a="http://schemas.openxmlformats.org/drawingml/2006/main" l="0" t="-420" r="0" b="-420"/>
          <a:stretch xmlns:a="http://schemas.openxmlformats.org/drawingml/2006/main"/>
        </p:blipFill>
        <p:spPr>
          <a:xfrm xmlns:a="http://schemas.openxmlformats.org/drawingml/2006/main">
            <a:off x="571500" y="838200"/>
            <a:ext cx="762000" cy="19050"/>
          </a:xfrm>
          <a:prstGeom xmlns:a="http://schemas.openxmlformats.org/drawingml/2006/main" prst="rect">
            <a:avLst/>
          </a:prstGeom>
        </p:spPr>
      </p:pic>
      <p:sp>
        <p:nvSpPr>
          <p:cNvPr id="59" name="슬라이드 번호 개체 틀 58">
            <a:extLst xmlns:a="http://schemas.openxmlformats.org/drawingml/2006/main">
              <a:ext uri="{FF2B5EF4-FFF2-40B4-BE49-F238E27FC236}">
                <a16:creationId xmlns:a16="http://schemas.microsoft.com/office/drawing/2014/main" id="{1C63EAE5-8EF4-4E85-91E9-E064B423991D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1049000" y="6457950"/>
            <a:ext cx="571500" cy="190500"/>
          </a:xfrm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900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900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07335E"/>
                </a:solidFill>
                <a:latin typeface="Noto Sans KR"/>
                <a:ea typeface="Noto Sans KR"/>
                <a:cs typeface="Noto Sans KR"/>
              </a:rPr>
              <a:t>0</a:t>
            </a:r>
            <a:fld id="{718978F8-0755-43CA-83FD-9959296336B8}" type="slidenum">
              <a:rPr sz="900">
                <a:solidFill>
                  <a:srgbClr val="07335E"/>
                </a:solidFill>
                <a:latin typeface="Noto Sans KR"/>
                <a:ea typeface="Noto Sans KR"/>
                <a:cs typeface="Noto Sans KR"/>
              </a:rPr>
              <a:t>4</a:t>
            </a:fld>
            <a:endParaRPr/>
          </a:p>
        </p:txBody>
      </p:sp>
      <p:sp>
        <p:nvSpPr>
          <p:cNvPr id="64" name="Text 20">
            <a:extLst xmlns:a="http://schemas.openxmlformats.org/drawingml/2006/main">
              <a:ext uri="{FF2B5EF4-FFF2-40B4-BE49-F238E27FC236}">
                <a16:creationId xmlns:a16="http://schemas.microsoft.com/office/drawing/2014/main" id="{A74241AF-F8EE-4821-9A6A-F2562F5B4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spc="-37">
                <a:solidFill>
                  <a:srgbClr val="07335E"/>
                </a:solidFill>
                <a:latin typeface="Noto Sans KR"/>
                <a:ea typeface="Noto Sans KR"/>
                <a:cs typeface="Noto Sans KR"/>
              </a:rPr>
              <a:t>01   서비스 개요</a:t>
            </a:r>
            <a:endParaRPr b="1" kern="0" spc="-37">
              <a:solidFill>
                <a:srgbClr val="002244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0" name="Text 51">
            <a:extLst xmlns:a="http://schemas.openxmlformats.org/drawingml/2006/main">
              <a:ext uri="{FF2B5EF4-FFF2-40B4-BE49-F238E27FC236}">
                <a16:creationId xmlns:a16="http://schemas.microsoft.com/office/drawing/2014/main" id="{81C79097-7396-4613-B90F-D2C52ED7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67475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900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marL="0" indent="0" algn="l">
              <a:buNone/>
              <a:defRPr sz="900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rPr>
              <a:t>한국금융IT</a:t>
            </a:r>
            <a:endParaRPr sz="900"/>
          </a:p>
        </p:txBody>
      </p:sp>
      <p:sp>
        <p:nvSpPr>
          <p:cNvPr id="111" name="Text 52">
            <a:extLst xmlns:a="http://schemas.openxmlformats.org/drawingml/2006/main">
              <a:ext uri="{FF2B5EF4-FFF2-40B4-BE49-F238E27FC236}">
                <a16:creationId xmlns:a16="http://schemas.microsoft.com/office/drawing/2014/main" id="{A9FA0CDC-9B44-414A-B287-C216C420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6467475"/>
            <a:ext cx="1143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900">
                <a:solidFill>
                  <a:srgbClr val="C7D1DE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marL="0" indent="0" algn="l">
              <a:buNone/>
              <a:defRPr sz="900">
                <a:solidFill>
                  <a:srgbClr val="C7D1DE"/>
                </a:solidFill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C7D1DE"/>
                </a:solidFill>
                <a:latin typeface="Noto Sans KR"/>
                <a:ea typeface="Noto Sans KR"/>
                <a:cs typeface="Noto Sans KR"/>
              </a:rPr>
              <a:t>|</a:t>
            </a:r>
            <a:endParaRPr sz="900"/>
          </a:p>
        </p:txBody>
      </p:sp>
      <p:sp>
        <p:nvSpPr>
          <p:cNvPr id="112" name="Text 53">
            <a:extLst xmlns:a="http://schemas.openxmlformats.org/drawingml/2006/main">
              <a:ext uri="{FF2B5EF4-FFF2-40B4-BE49-F238E27FC236}">
                <a16:creationId xmlns:a16="http://schemas.microsoft.com/office/drawing/2014/main" id="{48AFD195-917D-44A5-BC3F-9A023F7F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46747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900">
                <a:solidFill>
                  <a:srgbClr val="7B899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marL="0" indent="0" algn="l">
              <a:buNone/>
              <a:defRPr sz="900">
                <a:solidFill>
                  <a:srgbClr val="7B899B"/>
                </a:solidFill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7B899B"/>
                </a:solidFill>
                <a:latin typeface="Noto Sans KR"/>
                <a:ea typeface="Noto Sans KR"/>
                <a:cs typeface="Noto Sans KR"/>
              </a:rPr>
              <a:t>2026.10</a:t>
            </a:r>
            <a:endParaRPr sz="900"/>
          </a:p>
        </p:txBody>
      </p:sp>
      <p:sp>
        <p:nvSpPr>
          <p:cNvPr id="113" name="투자 아이디어를&#10;고객의 전략으로&#10;구현합니다">
            <a:extLst xmlns:a="http://schemas.openxmlformats.org/drawingml/2006/main">
              <a:ext uri="{FF2B5EF4-FFF2-40B4-BE49-F238E27FC236}">
                <a16:creationId xmlns:a16="http://schemas.microsoft.com/office/drawing/2014/main" id="{43D716F6-EE71-4AEC-AFFC-B4FD683D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76350"/>
            <a:ext cx="4572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925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pPr>
            <a:r>
              <a:rPr sz="2925" b="1">
                <a:solidFill>
                  <a:srgbClr val="07335E"/>
                </a:solidFill>
                <a:latin typeface="Noto Sans KR"/>
                <a:ea typeface="Noto Sans KR"/>
                <a:cs typeface="Noto Sans KR"/>
              </a:rPr>
              <a:t>투자 아이디어를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925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pPr>
            <a:r>
              <a:rPr sz="2925" b="1">
                <a:solidFill>
                  <a:srgbClr val="07335E"/>
                </a:solidFill>
                <a:latin typeface="Noto Sans KR"/>
                <a:ea typeface="Noto Sans KR"/>
                <a:cs typeface="Noto Sans KR"/>
              </a:rPr>
              <a:t>고객의 전략으로 구현합니다</a:t>
            </a:r>
          </a:p>
        </p:txBody>
      </p:sp>
      <p:sp>
        <p:nvSpPr>
          <p:cNvPr id="114" name="원하는 조건을 문의하면,&#10;전략 전문인력이 작성과 전달을 지원합니다.">
            <a:extLst xmlns:a="http://schemas.openxmlformats.org/drawingml/2006/main">
              <a:ext uri="{FF2B5EF4-FFF2-40B4-BE49-F238E27FC236}">
                <a16:creationId xmlns:a16="http://schemas.microsoft.com/office/drawing/2014/main" id="{E81C5DB2-1752-4D9B-87B3-0B107AEE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24200"/>
            <a:ext cx="44386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47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52647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52647B"/>
                </a:solidFill>
                <a:latin typeface="Noto Sans KR"/>
                <a:ea typeface="Noto Sans KR"/>
                <a:cs typeface="Noto Sans KR"/>
              </a:rPr>
              <a:t>원하는 조건을 문의하면,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52647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52647B"/>
                </a:solidFill>
                <a:latin typeface="Noto Sans KR"/>
                <a:ea typeface="Noto Sans KR"/>
                <a:cs typeface="Noto Sans KR"/>
              </a:rPr>
              <a:t>전략 전문인력이 작성과 전달을 지원합니다.</a:t>
            </a:r>
          </a:p>
        </p:txBody>
      </p:sp>
      <p:sp>
        <p:nvSpPr>
          <p:cNvPr id="115" name="신고가 조건, 특정 종목군 제외, 차트 신호 등&#10;고객의 아이디어와 요구조건을 확인합니다.">
            <a:extLst xmlns:a="http://schemas.openxmlformats.org/drawingml/2006/main">
              <a:ext uri="{FF2B5EF4-FFF2-40B4-BE49-F238E27FC236}">
                <a16:creationId xmlns:a16="http://schemas.microsoft.com/office/drawing/2014/main" id="{765CB92B-DC01-4433-990E-8990F9F9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81475"/>
            <a:ext cx="4429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2647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52647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2647B"/>
                </a:solidFill>
                <a:latin typeface="Noto Sans KR"/>
                <a:ea typeface="Noto Sans KR"/>
                <a:cs typeface="Noto Sans KR"/>
              </a:rPr>
              <a:t>신고가 조건, 특정 종목군 제외, 차트 신호 등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52647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2647B"/>
                </a:solidFill>
                <a:latin typeface="Noto Sans KR"/>
                <a:ea typeface="Noto Sans KR"/>
                <a:cs typeface="Noto Sans KR"/>
              </a:rPr>
              <a:t>고객의 아이디어와 요구조건을 확인합니다.</a:t>
            </a:r>
          </a:p>
        </p:txBody>
      </p:sp>
      <p:sp>
        <p:nvSpPr>
          <p:cNvPr id="116" name="전략 문의  /  전문인력 작성  /  요청 시 전달">
            <a:extLst xmlns:a="http://schemas.openxmlformats.org/drawingml/2006/main">
              <a:ext uri="{FF2B5EF4-FFF2-40B4-BE49-F238E27FC236}">
                <a16:creationId xmlns:a16="http://schemas.microsoft.com/office/drawing/2014/main" id="{B28E27B5-23DC-4DDE-909C-0D206522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00700"/>
            <a:ext cx="461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05BB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005BB5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005BB5"/>
                </a:solidFill>
                <a:latin typeface="Noto Sans KR"/>
                <a:ea typeface="Noto Sans KR"/>
                <a:cs typeface="Noto Sans KR"/>
              </a:rPr>
              <a:t>전략 문의  /  전문인력 작성  /  요청 시 전달</a:t>
            </a:r>
          </a:p>
        </p:txBody>
      </p:sp>
      <p:sp>
        <p:nvSpPr>
          <p:cNvPr id="117" name="실제 전략 작성 화면">
            <a:extLst xmlns:a="http://schemas.openxmlformats.org/drawingml/2006/main">
              <a:ext uri="{FF2B5EF4-FFF2-40B4-BE49-F238E27FC236}">
                <a16:creationId xmlns:a16="http://schemas.microsoft.com/office/drawing/2014/main" id="{71414353-720B-401A-B036-B979745E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676400"/>
            <a:ext cx="6248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BB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005BB5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005BB5"/>
                </a:solidFill>
                <a:latin typeface="Noto Sans KR"/>
                <a:ea typeface="Noto Sans KR"/>
                <a:cs typeface="Noto Sans KR"/>
              </a:rPr>
              <a:t>실제 전략 작성 화면</a:t>
            </a:r>
          </a:p>
        </p:txBody>
      </p:sp>
      <p:sp>
        <p:nvSpPr>
          <p:cNvPr id="118" name="요청한 조건을 분석하고 전략을 구성합니다">
            <a:extLst xmlns:a="http://schemas.openxmlformats.org/drawingml/2006/main">
              <a:ext uri="{FF2B5EF4-FFF2-40B4-BE49-F238E27FC236}">
                <a16:creationId xmlns:a16="http://schemas.microsoft.com/office/drawing/2014/main" id="{B3BAB641-B33D-4E2B-9B87-E01D2ADD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591175"/>
            <a:ext cx="624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2647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52647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2647B"/>
                </a:solidFill>
                <a:latin typeface="Noto Sans KR"/>
                <a:ea typeface="Noto Sans KR"/>
                <a:cs typeface="Noto Sans KR"/>
              </a:rPr>
              <a:t>요청한 조건을 분석하고 전략을 구성합니다</a:t>
            </a:r>
          </a:p>
        </p:txBody>
      </p:sp>
      <p:pic>
        <p:nvPicPr>
          <p:cNvPr id="119" name="고객의 요청 조건을 구현한 실제 HTS 전략 작성 화면">
            <a:extLst xmlns:a="http://schemas.openxmlformats.org/drawingml/2006/main">
              <a:ext uri="{FF2B5EF4-FFF2-40B4-BE49-F238E27FC236}">
                <a16:creationId xmlns:a16="http://schemas.microsoft.com/office/drawing/2014/main" id="{B9913D87-C455-4749-B510-6DE1C8E2E3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a13ded873c4910"/>
          <a:srcRect xmlns:a="http://schemas.openxmlformats.org/drawingml/2006/main" l="0" t="0" r="0" b="19743"/>
          <a:stretch xmlns:a="http://schemas.openxmlformats.org/drawingml/2006/main"/>
        </p:blipFill>
        <p:spPr>
          <a:xfrm xmlns:a="http://schemas.openxmlformats.org/drawingml/2006/main">
            <a:off x="5257800" y="2258329"/>
            <a:ext cx="6362700" cy="31128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8440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Image 0">
            <a:extLst xmlns:a="http://schemas.openxmlformats.org/drawingml/2006/main">
              <a:ext uri="{FF2B5EF4-FFF2-40B4-BE49-F238E27FC236}">
                <a16:creationId xmlns:a16="http://schemas.microsoft.com/office/drawing/2014/main" id="{114E8D20-9987-44DB-948E-264A4D19D8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cda31aa4e54313"/>
          <a:srcRect xmlns:a="http://schemas.openxmlformats.org/drawingml/2006/main" l="0" t="-401" r="0" b="-401"/>
          <a:stretch xmlns:a="http://schemas.openxmlformats.org/drawingml/2006/main"/>
        </p:blipFill>
        <p:spPr>
          <a:xfrm xmlns:a="http://schemas.openxmlformats.org/drawingml/2006/main">
            <a:off x="571500" y="838200"/>
            <a:ext cx="11049000" cy="9525"/>
          </a:xfrm>
          <a:prstGeom xmlns:a="http://schemas.openxmlformats.org/drawingml/2006/main" prst="rect">
            <a:avLst/>
          </a:prstGeom>
        </p:spPr>
      </p:pic>
      <p:pic>
        <p:nvPicPr>
          <p:cNvPr id="14" name="Image 1">
            <a:extLst xmlns:a="http://schemas.openxmlformats.org/drawingml/2006/main">
              <a:ext uri="{FF2B5EF4-FFF2-40B4-BE49-F238E27FC236}">
                <a16:creationId xmlns:a16="http://schemas.microsoft.com/office/drawing/2014/main" id="{EC05F134-8C43-4417-8E4E-30AAA7A635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bdc8a0489145f7"/>
          <a:srcRect xmlns:a="http://schemas.openxmlformats.org/drawingml/2006/main" l="0" t="-420" r="0" b="-420"/>
          <a:stretch xmlns:a="http://schemas.openxmlformats.org/drawingml/2006/main"/>
        </p:blipFill>
        <p:spPr>
          <a:xfrm xmlns:a="http://schemas.openxmlformats.org/drawingml/2006/main">
            <a:off x="571500" y="838200"/>
            <a:ext cx="762000" cy="19050"/>
          </a:xfrm>
          <a:prstGeom xmlns:a="http://schemas.openxmlformats.org/drawingml/2006/main" prst="rect">
            <a:avLst/>
          </a:prstGeom>
        </p:spPr>
      </p:pic>
      <p:sp>
        <p:nvSpPr>
          <p:cNvPr id="59" name="슬라이드 번호 개체 틀 58">
            <a:extLst xmlns:a="http://schemas.openxmlformats.org/drawingml/2006/main">
              <a:ext uri="{FF2B5EF4-FFF2-40B4-BE49-F238E27FC236}">
                <a16:creationId xmlns:a16="http://schemas.microsoft.com/office/drawing/2014/main" id="{D5CD2F20-4BE1-4801-9109-139F40E4F1C0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1049000" y="6457950"/>
            <a:ext cx="571500" cy="190500"/>
          </a:xfrm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900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900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07335E"/>
                </a:solidFill>
                <a:latin typeface="Noto Sans KR"/>
                <a:ea typeface="Noto Sans KR"/>
                <a:cs typeface="Noto Sans KR"/>
              </a:rPr>
              <a:t>0</a:t>
            </a:r>
            <a:fld id="{718978F8-0755-43CA-83FD-9959296336B8}" type="slidenum">
              <a:rPr sz="900">
                <a:solidFill>
                  <a:srgbClr val="07335E"/>
                </a:solidFill>
                <a:latin typeface="Noto Sans KR"/>
                <a:ea typeface="Noto Sans KR"/>
                <a:cs typeface="Noto Sans KR"/>
              </a:rPr>
              <a:t>5</a:t>
            </a:fld>
            <a:endParaRPr/>
          </a:p>
        </p:txBody>
      </p:sp>
      <p:sp>
        <p:nvSpPr>
          <p:cNvPr id="64" name="Text 20">
            <a:extLst xmlns:a="http://schemas.openxmlformats.org/drawingml/2006/main">
              <a:ext uri="{FF2B5EF4-FFF2-40B4-BE49-F238E27FC236}">
                <a16:creationId xmlns:a16="http://schemas.microsoft.com/office/drawing/2014/main" id="{52B3680A-B956-45B9-AD30-B5CC643A1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spc="-37">
                <a:solidFill>
                  <a:srgbClr val="07335E"/>
                </a:solidFill>
                <a:latin typeface="Noto Sans KR"/>
                <a:ea typeface="Noto Sans KR"/>
                <a:cs typeface="Noto Sans KR"/>
              </a:rPr>
              <a:t>01   서비스 개요</a:t>
            </a:r>
            <a:endParaRPr b="1" kern="0" spc="-37">
              <a:solidFill>
                <a:srgbClr val="002244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82" name="Text 51">
            <a:extLst xmlns:a="http://schemas.openxmlformats.org/drawingml/2006/main">
              <a:ext uri="{FF2B5EF4-FFF2-40B4-BE49-F238E27FC236}">
                <a16:creationId xmlns:a16="http://schemas.microsoft.com/office/drawing/2014/main" id="{87842AD6-6B94-4E8B-A97E-9068C9AB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67475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900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marL="0" indent="0" algn="l">
              <a:buNone/>
              <a:defRPr sz="900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rPr>
              <a:t>한국금융IT</a:t>
            </a:r>
            <a:endParaRPr sz="900"/>
          </a:p>
        </p:txBody>
      </p:sp>
      <p:sp>
        <p:nvSpPr>
          <p:cNvPr id="84" name="Text 52">
            <a:extLst xmlns:a="http://schemas.openxmlformats.org/drawingml/2006/main">
              <a:ext uri="{FF2B5EF4-FFF2-40B4-BE49-F238E27FC236}">
                <a16:creationId xmlns:a16="http://schemas.microsoft.com/office/drawing/2014/main" id="{DE14AE35-4D55-40CE-9624-B4B7FBB3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6467475"/>
            <a:ext cx="1143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900">
                <a:solidFill>
                  <a:srgbClr val="C7D1DE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marL="0" indent="0" algn="l">
              <a:buNone/>
              <a:defRPr sz="900">
                <a:solidFill>
                  <a:srgbClr val="C7D1DE"/>
                </a:solidFill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C7D1DE"/>
                </a:solidFill>
                <a:latin typeface="Noto Sans KR"/>
                <a:ea typeface="Noto Sans KR"/>
                <a:cs typeface="Noto Sans KR"/>
              </a:rPr>
              <a:t>|</a:t>
            </a:r>
            <a:endParaRPr sz="900"/>
          </a:p>
        </p:txBody>
      </p:sp>
      <p:sp>
        <p:nvSpPr>
          <p:cNvPr id="101" name="Text 53">
            <a:extLst xmlns:a="http://schemas.openxmlformats.org/drawingml/2006/main">
              <a:ext uri="{FF2B5EF4-FFF2-40B4-BE49-F238E27FC236}">
                <a16:creationId xmlns:a16="http://schemas.microsoft.com/office/drawing/2014/main" id="{EAF277EE-52D4-4638-ABAA-281FD81C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46747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900">
                <a:solidFill>
                  <a:srgbClr val="7B899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marL="0" indent="0" algn="l">
              <a:buNone/>
              <a:defRPr sz="900">
                <a:solidFill>
                  <a:srgbClr val="7B899B"/>
                </a:solidFill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7B899B"/>
                </a:solidFill>
                <a:latin typeface="Noto Sans KR"/>
                <a:ea typeface="Noto Sans KR"/>
                <a:cs typeface="Noto Sans KR"/>
              </a:rPr>
              <a:t>2026.10</a:t>
            </a:r>
            <a:endParaRPr sz="900"/>
          </a:p>
        </p:txBody>
      </p:sp>
      <p:sp>
        <p:nvSpPr>
          <p:cNvPr id="102" name="문의 확인부터 전략 전달까지 한 번에">
            <a:extLst xmlns:a="http://schemas.openxmlformats.org/drawingml/2006/main">
              <a:ext uri="{FF2B5EF4-FFF2-40B4-BE49-F238E27FC236}">
                <a16:creationId xmlns:a16="http://schemas.microsoft.com/office/drawing/2014/main" id="{71D1AEA5-43B8-40F1-80E5-0D8CDB8C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rPr>
              <a:t>문의 확인부터 전략 전달까지 한 번에</a:t>
            </a:r>
          </a:p>
        </p:txBody>
      </p:sp>
      <p:sp>
        <p:nvSpPr>
          <p:cNvPr id="103" name="고객이 전달받는 전략선물함">
            <a:extLst xmlns:a="http://schemas.openxmlformats.org/drawingml/2006/main">
              <a:ext uri="{FF2B5EF4-FFF2-40B4-BE49-F238E27FC236}">
                <a16:creationId xmlns:a16="http://schemas.microsoft.com/office/drawing/2014/main" id="{F4DEC888-E0F9-48EB-9032-47E3E024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145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BB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005BB5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005BB5"/>
                </a:solidFill>
                <a:latin typeface="Noto Sans KR"/>
                <a:ea typeface="Noto Sans KR"/>
                <a:cs typeface="Noto Sans KR"/>
              </a:rPr>
              <a:t>고객이 전달받는 전략선물함</a:t>
            </a:r>
          </a:p>
        </p:txBody>
      </p:sp>
      <p:sp>
        <p:nvSpPr>
          <p:cNvPr id="104" name="01  전략·조건검색 문의 대응">
            <a:extLst xmlns:a="http://schemas.openxmlformats.org/drawingml/2006/main">
              <a:ext uri="{FF2B5EF4-FFF2-40B4-BE49-F238E27FC236}">
                <a16:creationId xmlns:a16="http://schemas.microsoft.com/office/drawing/2014/main" id="{48364C41-431F-4DF8-BE76-693AB280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5265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5BB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005BB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005BB5"/>
                </a:solidFill>
                <a:latin typeface="Noto Sans KR"/>
                <a:ea typeface="Noto Sans KR"/>
                <a:cs typeface="Noto Sans KR"/>
              </a:rPr>
              <a:t>01  전략·조건검색 문의 대응</a:t>
            </a:r>
          </a:p>
        </p:txBody>
      </p:sp>
      <p:sp>
        <p:nvSpPr>
          <p:cNvPr id="105" name="고객의 요구조건을 파악하고 사용방법을 안내합니다.">
            <a:extLst xmlns:a="http://schemas.openxmlformats.org/drawingml/2006/main">
              <a:ext uri="{FF2B5EF4-FFF2-40B4-BE49-F238E27FC236}">
                <a16:creationId xmlns:a16="http://schemas.microsoft.com/office/drawing/2014/main" id="{F4619BAB-92C1-4D4E-BB4E-A6B8EE17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00325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47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2647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2647B"/>
                </a:solidFill>
                <a:latin typeface="Noto Sans KR"/>
                <a:ea typeface="Noto Sans KR"/>
                <a:cs typeface="Noto Sans KR"/>
              </a:rPr>
              <a:t>고객의 요구조건을 파악하고 사용방법을 안내합니다.</a:t>
            </a:r>
          </a:p>
        </p:txBody>
      </p:sp>
      <p:sp>
        <p:nvSpPr>
          <p:cNvPr id="106" name="02  전략 작성 지원">
            <a:extLst xmlns:a="http://schemas.openxmlformats.org/drawingml/2006/main">
              <a:ext uri="{FF2B5EF4-FFF2-40B4-BE49-F238E27FC236}">
                <a16:creationId xmlns:a16="http://schemas.microsoft.com/office/drawing/2014/main" id="{0F260E02-6802-4727-B3AF-24724E80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09925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5BB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005BB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005BB5"/>
                </a:solidFill>
                <a:latin typeface="Noto Sans KR"/>
                <a:ea typeface="Noto Sans KR"/>
                <a:cs typeface="Noto Sans KR"/>
              </a:rPr>
              <a:t>02  전략 작성 지원</a:t>
            </a:r>
          </a:p>
        </p:txBody>
      </p:sp>
      <p:sp>
        <p:nvSpPr>
          <p:cNvPr id="107" name="요청한 조건을 바탕으로 필요한 전략을 구성합니다.">
            <a:extLst xmlns:a="http://schemas.openxmlformats.org/drawingml/2006/main">
              <a:ext uri="{FF2B5EF4-FFF2-40B4-BE49-F238E27FC236}">
                <a16:creationId xmlns:a16="http://schemas.microsoft.com/office/drawing/2014/main" id="{3428FF19-2A4B-4D05-8C8B-DD78650A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5760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47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2647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2647B"/>
                </a:solidFill>
                <a:latin typeface="Noto Sans KR"/>
                <a:ea typeface="Noto Sans KR"/>
                <a:cs typeface="Noto Sans KR"/>
              </a:rPr>
              <a:t>요청한 조건을 바탕으로 필요한 전략을 구성합니다.</a:t>
            </a:r>
          </a:p>
        </p:txBody>
      </p:sp>
      <p:sp>
        <p:nvSpPr>
          <p:cNvPr id="108" name="03  전략선물로 전달">
            <a:extLst xmlns:a="http://schemas.openxmlformats.org/drawingml/2006/main">
              <a:ext uri="{FF2B5EF4-FFF2-40B4-BE49-F238E27FC236}">
                <a16:creationId xmlns:a16="http://schemas.microsoft.com/office/drawing/2014/main" id="{19E6C087-7C18-4A09-8DFA-14498CD9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672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5BB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005BB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005BB5"/>
                </a:solidFill>
                <a:latin typeface="Noto Sans KR"/>
                <a:ea typeface="Noto Sans KR"/>
                <a:cs typeface="Noto Sans KR"/>
              </a:rPr>
              <a:t>03  전략선물로 전달</a:t>
            </a:r>
          </a:p>
        </p:txBody>
      </p:sp>
      <p:sp>
        <p:nvSpPr>
          <p:cNvPr id="109" name="전략선물 요청 시 작성된 전략을 고객에게 전달합니다.">
            <a:extLst xmlns:a="http://schemas.openxmlformats.org/drawingml/2006/main">
              <a:ext uri="{FF2B5EF4-FFF2-40B4-BE49-F238E27FC236}">
                <a16:creationId xmlns:a16="http://schemas.microsoft.com/office/drawing/2014/main" id="{E6FDE2DC-12C8-4405-A6E1-318B0150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14875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47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2647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2647B"/>
                </a:solidFill>
                <a:latin typeface="Noto Sans KR"/>
                <a:ea typeface="Noto Sans KR"/>
                <a:cs typeface="Noto Sans KR"/>
              </a:rPr>
              <a:t>전략선물 요청 시 작성된 전략을 고객에게 전달합니다.</a:t>
            </a:r>
          </a:p>
        </p:txBody>
      </p:sp>
      <p:sp>
        <p:nvSpPr>
          <p:cNvPr id="110" name="57,609건">
            <a:extLst xmlns:a="http://schemas.openxmlformats.org/drawingml/2006/main">
              <a:ext uri="{FF2B5EF4-FFF2-40B4-BE49-F238E27FC236}">
                <a16:creationId xmlns:a16="http://schemas.microsoft.com/office/drawing/2014/main" id="{FDA4AD8C-74D6-46B2-B379-D63E311D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33400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005BB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005BB5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005BB5"/>
                </a:solidFill>
                <a:latin typeface="Noto Sans KR"/>
                <a:ea typeface="Noto Sans KR"/>
                <a:cs typeface="Noto Sans KR"/>
              </a:rPr>
              <a:t>57,609건</a:t>
            </a:r>
          </a:p>
        </p:txBody>
      </p:sp>
      <p:sp>
        <p:nvSpPr>
          <p:cNvPr id="111" name="누적 고객 질문 · 2026년 10월 기준">
            <a:extLst xmlns:a="http://schemas.openxmlformats.org/drawingml/2006/main">
              <a:ext uri="{FF2B5EF4-FFF2-40B4-BE49-F238E27FC236}">
                <a16:creationId xmlns:a16="http://schemas.microsoft.com/office/drawing/2014/main" id="{A95E0E62-3BBC-4E99-BF06-00ECECFE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410200"/>
            <a:ext cx="285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47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47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2647B"/>
                </a:solidFill>
                <a:latin typeface="Noto Sans KR"/>
                <a:ea typeface="Noto Sans KR"/>
                <a:cs typeface="Noto Sans KR"/>
              </a:rPr>
              <a:t>누적 고객 질문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47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2647B"/>
                </a:solidFill>
                <a:latin typeface="Noto Sans KR"/>
                <a:ea typeface="Noto Sans KR"/>
                <a:cs typeface="Noto Sans KR"/>
              </a:rPr>
              <a:t>2026년 10월 기준</a:t>
            </a:r>
          </a:p>
        </p:txBody>
      </p:sp>
      <p:pic>
        <p:nvPicPr>
          <p:cNvPr id="112" name="고객에게 작성된 전략을 전달하는 실제 전략선물함 화면">
            <a:extLst xmlns:a="http://schemas.openxmlformats.org/drawingml/2006/main">
              <a:ext uri="{FF2B5EF4-FFF2-40B4-BE49-F238E27FC236}">
                <a16:creationId xmlns:a16="http://schemas.microsoft.com/office/drawing/2014/main" id="{8FF8AF77-8624-4AB6-9BF9-4EA5EBC72D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55bc95066a4670"/>
          <a:srcRect xmlns:a="http://schemas.openxmlformats.org/drawingml/2006/main" l="22134" t="12642" r="22134" b="13019"/>
          <a:stretch xmlns:a="http://schemas.openxmlformats.org/drawingml/2006/main"/>
        </p:blipFill>
        <p:spPr>
          <a:xfrm xmlns:a="http://schemas.openxmlformats.org/drawingml/2006/main">
            <a:off x="573483" y="2628900"/>
            <a:ext cx="4415635" cy="3543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87754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Image 0">
            <a:extLst xmlns:a="http://schemas.openxmlformats.org/drawingml/2006/main">
              <a:ext uri="{FF2B5EF4-FFF2-40B4-BE49-F238E27FC236}">
                <a16:creationId xmlns:a16="http://schemas.microsoft.com/office/drawing/2014/main" id="{EF62EA0F-A836-43D5-8ECF-D45D4E0EF1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14f294176c4b7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3810305" cy="6858000"/>
          </a:xfrm>
          <a:prstGeom xmlns:a="http://schemas.openxmlformats.org/drawingml/2006/main" prst="rect">
            <a:avLst/>
          </a:prstGeom>
        </p:spPr>
      </p:pic>
      <p:pic>
        <p:nvPicPr>
          <p:cNvPr id="6" name="Image 2">
            <a:extLst xmlns:a="http://schemas.openxmlformats.org/drawingml/2006/main">
              <a:ext uri="{FF2B5EF4-FFF2-40B4-BE49-F238E27FC236}">
                <a16:creationId xmlns:a16="http://schemas.microsoft.com/office/drawing/2014/main" id="{3EFB78D0-7978-4EBD-AAE4-AD606E2102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74ec51e0564e9f"/>
          <a:srcRect xmlns:a="http://schemas.openxmlformats.org/drawingml/2006/main" l="0" t="-420" r="0" b="-420"/>
          <a:stretch xmlns:a="http://schemas.openxmlformats.org/drawingml/2006/main"/>
        </p:blipFill>
        <p:spPr>
          <a:xfrm xmlns:a="http://schemas.openxmlformats.org/drawingml/2006/main">
            <a:off x="4762500" y="2028825"/>
            <a:ext cx="762000" cy="57150"/>
          </a:xfrm>
          <a:prstGeom xmlns:a="http://schemas.openxmlformats.org/drawingml/2006/main" prst="rect">
            <a:avLst/>
          </a:prstGeom>
        </p:spPr>
      </p:pic>
      <p:sp>
        <p:nvSpPr>
          <p:cNvPr id="9" name="Text 2">
            <a:extLst xmlns:a="http://schemas.openxmlformats.org/drawingml/2006/main">
              <a:ext uri="{FF2B5EF4-FFF2-40B4-BE49-F238E27FC236}">
                <a16:creationId xmlns:a16="http://schemas.microsoft.com/office/drawing/2014/main" id="{477378B4-2849-4F91-BB98-9ED1EE22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2293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9AA7B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marL="0" indent="0" algn="r">
              <a:lnSpc>
                <a:spcPct val="112000"/>
              </a:lnSpc>
              <a:buNone/>
              <a:defRPr sz="900" b="0">
                <a:solidFill>
                  <a:srgbClr val="9AA7B6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spc="90">
                <a:solidFill>
                  <a:srgbClr val="9AA7B6"/>
                </a:solidFill>
                <a:latin typeface="Noto Sans KR"/>
                <a:ea typeface="Noto Sans KR"/>
                <a:cs typeface="Noto Sans KR"/>
              </a:rPr>
              <a:t>KOREA FINANCIAL IT</a:t>
            </a:r>
            <a:endParaRPr sz="900"/>
          </a:p>
        </p:txBody>
      </p:sp>
      <p:sp>
        <p:nvSpPr>
          <p:cNvPr id="10" name="Text 3">
            <a:extLst xmlns:a="http://schemas.openxmlformats.org/drawingml/2006/main">
              <a:ext uri="{FF2B5EF4-FFF2-40B4-BE49-F238E27FC236}">
                <a16:creationId xmlns:a16="http://schemas.microsoft.com/office/drawing/2014/main" id="{3CFC252D-0F2B-4CFF-92E6-30B59CB5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marL="0" indent="0" algn="l">
              <a:lnSpc>
                <a:spcPct val="112000"/>
              </a:lnSpc>
              <a:buNone/>
              <a:defRPr sz="13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spc="45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PART</a:t>
            </a:r>
            <a:endParaRPr sz="1600"/>
          </a:p>
        </p:txBody>
      </p:sp>
      <p:sp>
        <p:nvSpPr>
          <p:cNvPr id="11" name="Text 4">
            <a:extLst xmlns:a="http://schemas.openxmlformats.org/drawingml/2006/main">
              <a:ext uri="{FF2B5EF4-FFF2-40B4-BE49-F238E27FC236}">
                <a16:creationId xmlns:a16="http://schemas.microsoft.com/office/drawing/2014/main" id="{BF68C76F-495D-4495-A39A-DD070C9A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2476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marL="0" indent="0" algn="l">
              <a:lnSpc>
                <a:spcPct val="112000"/>
              </a:lnSpc>
              <a:buNone/>
              <a:defRPr sz="82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0" b="1" spc="-15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  <a:endParaRPr sz="9000"/>
          </a:p>
        </p:txBody>
      </p:sp>
      <p:sp>
        <p:nvSpPr>
          <p:cNvPr id="12" name="Text 5">
            <a:extLst xmlns:a="http://schemas.openxmlformats.org/drawingml/2006/main">
              <a:ext uri="{FF2B5EF4-FFF2-40B4-BE49-F238E27FC236}">
                <a16:creationId xmlns:a16="http://schemas.microsoft.com/office/drawing/2014/main" id="{C7AFA033-B289-4F47-BCA1-AD474C43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43175"/>
            <a:ext cx="6667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rPr>
              <a:t>서비스 특징 및</a:t>
            </a:r>
            <a:endParaRPr sz="4000">
              <a:latin typeface="Noto Sans KR"/>
              <a:ea typeface="Noto Sans KR"/>
              <a:cs typeface="Noto Sans KR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rPr>
              <a:t>운영 현황</a:t>
            </a:r>
            <a:endParaRPr sz="4000">
              <a:latin typeface="Noto Sans KR"/>
              <a:ea typeface="Noto Sans KR"/>
              <a:cs typeface="Noto Sans KR"/>
            </a:endParaRPr>
          </a:p>
        </p:txBody>
      </p:sp>
      <p:sp>
        <p:nvSpPr>
          <p:cNvPr id="7" name="슬라이드 번호 개체 틀 6">
            <a:extLst xmlns:a="http://schemas.openxmlformats.org/drawingml/2006/main">
              <a:ext uri="{FF2B5EF4-FFF2-40B4-BE49-F238E27FC236}">
                <a16:creationId xmlns:a16="http://schemas.microsoft.com/office/drawing/2014/main" id="{4EC356A3-FA7A-473C-BEFB-9649A259707C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1049000" y="6457950"/>
            <a:ext cx="571500" cy="190500"/>
          </a:xfrm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900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900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07335E"/>
                </a:solidFill>
                <a:latin typeface="Noto Sans KR"/>
                <a:ea typeface="Noto Sans KR"/>
                <a:cs typeface="Noto Sans KR"/>
              </a:rPr>
              <a:t>0</a:t>
            </a:r>
            <a:fld id="{718978F8-0755-43CA-83FD-9959296336B8}" type="slidenum">
              <a:rPr sz="900">
                <a:solidFill>
                  <a:srgbClr val="07335E"/>
                </a:solidFill>
                <a:latin typeface="Noto Sans KR"/>
                <a:ea typeface="Noto Sans KR"/>
                <a:cs typeface="Noto Sans KR"/>
              </a:rPr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9128419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Image 0">
            <a:extLst xmlns:a="http://schemas.openxmlformats.org/drawingml/2006/main">
              <a:ext uri="{FF2B5EF4-FFF2-40B4-BE49-F238E27FC236}">
                <a16:creationId xmlns:a16="http://schemas.microsoft.com/office/drawing/2014/main" id="{476B884E-3FF9-4CA4-B742-23BFFDC9DF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f19a1e350143a4"/>
          <a:srcRect xmlns:a="http://schemas.openxmlformats.org/drawingml/2006/main" l="0" t="-401" r="0" b="-401"/>
          <a:stretch xmlns:a="http://schemas.openxmlformats.org/drawingml/2006/main"/>
        </p:blipFill>
        <p:spPr>
          <a:xfrm xmlns:a="http://schemas.openxmlformats.org/drawingml/2006/main">
            <a:off x="571500" y="838200"/>
            <a:ext cx="11049000" cy="9525"/>
          </a:xfrm>
          <a:prstGeom xmlns:a="http://schemas.openxmlformats.org/drawingml/2006/main" prst="rect">
            <a:avLst/>
          </a:prstGeom>
        </p:spPr>
      </p:pic>
      <p:sp>
        <p:nvSpPr>
          <p:cNvPr id="59" name="슬라이드 번호 개체 틀 58">
            <a:extLst xmlns:a="http://schemas.openxmlformats.org/drawingml/2006/main">
              <a:ext uri="{FF2B5EF4-FFF2-40B4-BE49-F238E27FC236}">
                <a16:creationId xmlns:a16="http://schemas.microsoft.com/office/drawing/2014/main" id="{0B8EF58C-7DBE-45A2-84F9-1C5A52C99B9A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1049000" y="6457950"/>
            <a:ext cx="571500" cy="190500"/>
          </a:xfrm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900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900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07335E"/>
                </a:solidFill>
                <a:latin typeface="Noto Sans KR"/>
                <a:ea typeface="Noto Sans KR"/>
                <a:cs typeface="Noto Sans KR"/>
              </a:rPr>
              <a:t>0</a:t>
            </a:r>
            <a:fld id="{718978F8-0755-43CA-83FD-9959296336B8}" type="slidenum">
              <a:rPr sz="900">
                <a:solidFill>
                  <a:srgbClr val="07335E"/>
                </a:solidFill>
                <a:latin typeface="Noto Sans KR"/>
                <a:ea typeface="Noto Sans KR"/>
                <a:cs typeface="Noto Sans KR"/>
              </a:rPr>
              <a:t>7</a:t>
            </a:fld>
            <a:endParaRPr/>
          </a:p>
        </p:txBody>
      </p:sp>
      <p:pic>
        <p:nvPicPr>
          <p:cNvPr id="36" name="Image 1">
            <a:extLst xmlns:a="http://schemas.openxmlformats.org/drawingml/2006/main">
              <a:ext uri="{FF2B5EF4-FFF2-40B4-BE49-F238E27FC236}">
                <a16:creationId xmlns:a16="http://schemas.microsoft.com/office/drawing/2014/main" id="{FE7378B0-E3E2-4FF1-946B-0FB6E8B7E3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b7753bfc254b9a"/>
          <a:srcRect xmlns:a="http://schemas.openxmlformats.org/drawingml/2006/main" l="0" t="-420" r="0" b="-420"/>
          <a:stretch xmlns:a="http://schemas.openxmlformats.org/drawingml/2006/main"/>
        </p:blipFill>
        <p:spPr>
          <a:xfrm xmlns:a="http://schemas.openxmlformats.org/drawingml/2006/main">
            <a:off x="571500" y="838200"/>
            <a:ext cx="762000" cy="19050"/>
          </a:xfrm>
          <a:prstGeom xmlns:a="http://schemas.openxmlformats.org/drawingml/2006/main" prst="rect">
            <a:avLst/>
          </a:prstGeom>
        </p:spPr>
      </p:pic>
      <p:sp>
        <p:nvSpPr>
          <p:cNvPr id="39" name="Text 20">
            <a:extLst xmlns:a="http://schemas.openxmlformats.org/drawingml/2006/main">
              <a:ext uri="{FF2B5EF4-FFF2-40B4-BE49-F238E27FC236}">
                <a16:creationId xmlns:a16="http://schemas.microsoft.com/office/drawing/2014/main" id="{51ED3B79-B9EF-4407-BF41-E9AFC34B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spc="-37">
                <a:solidFill>
                  <a:srgbClr val="07335E"/>
                </a:solidFill>
                <a:latin typeface="Noto Sans KR"/>
                <a:ea typeface="Noto Sans KR"/>
                <a:cs typeface="Noto Sans KR"/>
              </a:rPr>
              <a:t>02   서비스 특징 및 운영 현황</a:t>
            </a:r>
            <a:endParaRPr b="1" kern="0" spc="-75">
              <a:solidFill>
                <a:srgbClr val="002244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0" name="Text 22">
            <a:extLst xmlns:a="http://schemas.openxmlformats.org/drawingml/2006/main">
              <a:ext uri="{FF2B5EF4-FFF2-40B4-BE49-F238E27FC236}">
                <a16:creationId xmlns:a16="http://schemas.microsoft.com/office/drawing/2014/main" id="{71C9EB92-7EAC-41A0-A2AD-28FB7A8E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spc="-37">
                <a:solidFill>
                  <a:srgbClr val="07335E"/>
                </a:solidFill>
                <a:latin typeface="Noto Sans KR"/>
                <a:ea typeface="Noto Sans KR"/>
                <a:cs typeface="Noto Sans KR"/>
              </a:rPr>
              <a:t>서비스 주요 특징</a:t>
            </a:r>
            <a:endParaRPr sz="1600" b="1" kern="0" spc="-37">
              <a:solidFill>
                <a:srgbClr val="002244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4" name="Text 22">
            <a:extLst xmlns:a="http://schemas.openxmlformats.org/drawingml/2006/main">
              <a:ext uri="{FF2B5EF4-FFF2-40B4-BE49-F238E27FC236}">
                <a16:creationId xmlns:a16="http://schemas.microsoft.com/office/drawing/2014/main" id="{272BE690-156B-4019-8B78-8154F926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rPr>
              <a:t>전략 작성부터 문의 해결, 전략 전달까지 지원합니다</a:t>
            </a:r>
            <a:endParaRPr sz="1400" b="1">
              <a:solidFill>
                <a:srgbClr val="002244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5" name="Text 51">
            <a:extLst xmlns:a="http://schemas.openxmlformats.org/drawingml/2006/main">
              <a:ext uri="{FF2B5EF4-FFF2-40B4-BE49-F238E27FC236}">
                <a16:creationId xmlns:a16="http://schemas.microsoft.com/office/drawing/2014/main" id="{20AC3332-961B-49A5-BC98-6D2CDEE4E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67475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900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marL="0" indent="0" algn="l">
              <a:buNone/>
              <a:defRPr sz="900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rPr>
              <a:t>한국금융IT</a:t>
            </a:r>
            <a:endParaRPr sz="900"/>
          </a:p>
        </p:txBody>
      </p:sp>
      <p:sp>
        <p:nvSpPr>
          <p:cNvPr id="46" name="Text 52">
            <a:extLst xmlns:a="http://schemas.openxmlformats.org/drawingml/2006/main">
              <a:ext uri="{FF2B5EF4-FFF2-40B4-BE49-F238E27FC236}">
                <a16:creationId xmlns:a16="http://schemas.microsoft.com/office/drawing/2014/main" id="{18EF246A-8B76-4C9E-A40C-65991CF8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6467475"/>
            <a:ext cx="1143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900">
                <a:solidFill>
                  <a:srgbClr val="C7D1DE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marL="0" indent="0" algn="l">
              <a:buNone/>
              <a:defRPr sz="900">
                <a:solidFill>
                  <a:srgbClr val="C7D1DE"/>
                </a:solidFill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C7D1DE"/>
                </a:solidFill>
                <a:latin typeface="Noto Sans KR"/>
                <a:ea typeface="Noto Sans KR"/>
                <a:cs typeface="Noto Sans KR"/>
              </a:rPr>
              <a:t>|</a:t>
            </a:r>
            <a:endParaRPr sz="900"/>
          </a:p>
        </p:txBody>
      </p:sp>
      <p:sp>
        <p:nvSpPr>
          <p:cNvPr id="47" name="Text 53">
            <a:extLst xmlns:a="http://schemas.openxmlformats.org/drawingml/2006/main">
              <a:ext uri="{FF2B5EF4-FFF2-40B4-BE49-F238E27FC236}">
                <a16:creationId xmlns:a16="http://schemas.microsoft.com/office/drawing/2014/main" id="{75673D53-F342-492B-B75C-7EE17998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46747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900">
                <a:solidFill>
                  <a:srgbClr val="7B899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marL="0" indent="0" algn="l">
              <a:buNone/>
              <a:defRPr sz="900">
                <a:solidFill>
                  <a:srgbClr val="7B899B"/>
                </a:solidFill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7B899B"/>
                </a:solidFill>
                <a:latin typeface="Noto Sans KR"/>
                <a:ea typeface="Noto Sans KR"/>
                <a:cs typeface="Noto Sans KR"/>
              </a:rPr>
              <a:t>2026.10</a:t>
            </a:r>
            <a:endParaRPr sz="900"/>
          </a:p>
        </p:txBody>
      </p:sp>
      <p:sp>
        <p:nvSpPr>
          <p:cNvPr id="29" name="Text 4">
            <a:extLst xmlns:a="http://schemas.openxmlformats.org/drawingml/2006/main">
              <a:ext uri="{FF2B5EF4-FFF2-40B4-BE49-F238E27FC236}">
                <a16:creationId xmlns:a16="http://schemas.microsoft.com/office/drawing/2014/main" id="{62B2E33D-605B-4791-AF3B-4EA3948A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05025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2647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52647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2647B"/>
                </a:solidFill>
                <a:latin typeface="Noto Sans KR"/>
                <a:ea typeface="Noto Sans KR"/>
                <a:cs typeface="Noto Sans KR"/>
              </a:rPr>
              <a:t>전문인력이 고객의 조건검색·전략 문의에 답변하고, 필요 시 전략 작성과 전달을 지원합니다.</a:t>
            </a:r>
            <a:endParaRPr sz="1400"/>
          </a:p>
        </p:txBody>
      </p:sp>
      <p:sp>
        <p:nvSpPr>
          <p:cNvPr id="31" name="Text 15">
            <a:extLst xmlns:a="http://schemas.openxmlformats.org/drawingml/2006/main">
              <a:ext uri="{FF2B5EF4-FFF2-40B4-BE49-F238E27FC236}">
                <a16:creationId xmlns:a16="http://schemas.microsoft.com/office/drawing/2014/main" id="{E22717AA-99EA-4FEC-8130-3CF97608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52750"/>
            <a:ext cx="39433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5BB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005BB5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005BB5"/>
                </a:solidFill>
                <a:latin typeface="Noto Sans KR"/>
                <a:ea typeface="Noto Sans KR"/>
                <a:cs typeface="Noto Sans KR"/>
              </a:rPr>
              <a:t>01  전략Q&amp;A 게시판</a:t>
            </a:r>
          </a:p>
        </p:txBody>
      </p:sp>
      <p:sp>
        <p:nvSpPr>
          <p:cNvPr id="49" name="Text 15">
            <a:extLst xmlns:a="http://schemas.openxmlformats.org/drawingml/2006/main">
              <a:ext uri="{FF2B5EF4-FFF2-40B4-BE49-F238E27FC236}">
                <a16:creationId xmlns:a16="http://schemas.microsoft.com/office/drawing/2014/main" id="{B220AD17-4ECD-4EC5-AC42-287172ECC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952750"/>
            <a:ext cx="39433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5BB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005BB5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005BB5"/>
                </a:solidFill>
                <a:latin typeface="Noto Sans KR"/>
                <a:ea typeface="Noto Sans KR"/>
                <a:cs typeface="Noto Sans KR"/>
              </a:rPr>
              <a:t>02  전문인력 문의 대응</a:t>
            </a:r>
            <a:endParaRPr sz="1300" b="1">
              <a:solidFill>
                <a:srgbClr val="0055A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1" name="Text 15">
            <a:extLst xmlns:a="http://schemas.openxmlformats.org/drawingml/2006/main">
              <a:ext uri="{FF2B5EF4-FFF2-40B4-BE49-F238E27FC236}">
                <a16:creationId xmlns:a16="http://schemas.microsoft.com/office/drawing/2014/main" id="{522AB55C-EA92-4D62-A520-5FA26910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648200"/>
            <a:ext cx="39433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5BB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005BB5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005BB5"/>
                </a:solidFill>
                <a:latin typeface="Noto Sans KR"/>
                <a:ea typeface="Noto Sans KR"/>
                <a:cs typeface="Noto Sans KR"/>
              </a:rPr>
              <a:t>03  고객 요구사항 파악</a:t>
            </a:r>
            <a:endParaRPr sz="1300" b="1">
              <a:solidFill>
                <a:srgbClr val="0055A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3" name="Text 15">
            <a:extLst xmlns:a="http://schemas.openxmlformats.org/drawingml/2006/main">
              <a:ext uri="{FF2B5EF4-FFF2-40B4-BE49-F238E27FC236}">
                <a16:creationId xmlns:a16="http://schemas.microsoft.com/office/drawing/2014/main" id="{7E11B7A2-5D09-4DAA-A9D8-B558C91E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648200"/>
            <a:ext cx="39433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5BB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005BB5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005BB5"/>
                </a:solidFill>
                <a:latin typeface="Noto Sans KR"/>
                <a:ea typeface="Noto Sans KR"/>
                <a:cs typeface="Noto Sans KR"/>
              </a:rPr>
              <a:t>04  전략 전달</a:t>
            </a:r>
            <a:endParaRPr sz="1300" b="1">
              <a:solidFill>
                <a:srgbClr val="0055AA"/>
              </a:solidFill>
              <a:latin typeface="Noto Sans KR"/>
              <a:ea typeface="Noto Sans KR"/>
              <a:cs typeface="Noto Sans KR"/>
            </a:endParaRPr>
          </a:p>
        </p:txBody>
      </p:sp>
      <p:pic>
        <p:nvPicPr>
          <p:cNvPr id="2" name="그림 1">
            <a:extLst xmlns:a="http://schemas.openxmlformats.org/drawingml/2006/main">
              <a:ext uri="{FF2B5EF4-FFF2-40B4-BE49-F238E27FC236}">
                <a16:creationId xmlns:a16="http://schemas.microsoft.com/office/drawing/2014/main" id="{F033DC22-60DB-4899-86A5-D47FF5280E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71328d7b404c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0" y="3079519"/>
            <a:ext cx="952500" cy="832311"/>
          </a:xfrm>
          <a:prstGeom xmlns:a="http://schemas.openxmlformats.org/drawingml/2006/main" prst="rect">
            <a:avLst/>
          </a:prstGeom>
        </p:spPr>
      </p:pic>
      <p:pic>
        <p:nvPicPr>
          <p:cNvPr id="54" name="그림 53">
            <a:extLst xmlns:a="http://schemas.openxmlformats.org/drawingml/2006/main">
              <a:ext uri="{FF2B5EF4-FFF2-40B4-BE49-F238E27FC236}">
                <a16:creationId xmlns:a16="http://schemas.microsoft.com/office/drawing/2014/main" id="{4F460CA7-EF52-4270-BB70-23B822F03F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86d917163747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4750932"/>
            <a:ext cx="952500" cy="880386"/>
          </a:xfrm>
          <a:prstGeom xmlns:a="http://schemas.openxmlformats.org/drawingml/2006/main" prst="rect">
            <a:avLst/>
          </a:prstGeom>
        </p:spPr>
      </p:pic>
      <p:pic>
        <p:nvPicPr>
          <p:cNvPr id="4" name="그림 3">
            <a:extLst xmlns:a="http://schemas.openxmlformats.org/drawingml/2006/main">
              <a:ext uri="{FF2B5EF4-FFF2-40B4-BE49-F238E27FC236}">
                <a16:creationId xmlns:a16="http://schemas.microsoft.com/office/drawing/2014/main" id="{84EF855D-4F5B-44B3-ABB8-21118D282A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71328d7b404c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3075298"/>
            <a:ext cx="952500" cy="840754"/>
          </a:xfrm>
          <a:prstGeom xmlns:a="http://schemas.openxmlformats.org/drawingml/2006/main" prst="rect">
            <a:avLst/>
          </a:prstGeom>
        </p:spPr>
      </p:pic>
      <p:pic>
        <p:nvPicPr>
          <p:cNvPr id="6" name="그림 5">
            <a:extLst xmlns:a="http://schemas.openxmlformats.org/drawingml/2006/main">
              <a:ext uri="{FF2B5EF4-FFF2-40B4-BE49-F238E27FC236}">
                <a16:creationId xmlns:a16="http://schemas.microsoft.com/office/drawing/2014/main" id="{DF691B49-2CFA-441F-A9F2-F4289FAEB8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d023bd9ffa48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0" y="4756200"/>
            <a:ext cx="952500" cy="869851"/>
          </a:xfrm>
          <a:prstGeom xmlns:a="http://schemas.openxmlformats.org/drawingml/2006/main" prst="rect">
            <a:avLst/>
          </a:prstGeom>
        </p:spPr>
      </p:pic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B2887B6-698A-4275-8B82-807B80AF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505200"/>
            <a:ext cx="39433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47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52647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2647B"/>
                </a:solidFill>
                <a:latin typeface="Noto Sans KR"/>
                <a:ea typeface="Noto Sans KR"/>
                <a:cs typeface="Noto Sans KR"/>
              </a:rPr>
              <a:t>전략을 만들기 어려운 고객의 요구사항과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52647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2647B"/>
                </a:solidFill>
                <a:latin typeface="Noto Sans KR"/>
                <a:ea typeface="Noto Sans KR"/>
                <a:cs typeface="Noto Sans KR"/>
              </a:rPr>
              <a:t>투자 아이디어를 바탕으로 전략 작성을 지원합니다.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2EC936E-47F4-4EB4-BA6B-A7BEB3E5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505200"/>
            <a:ext cx="39433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47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52647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2647B"/>
                </a:solidFill>
                <a:latin typeface="Noto Sans KR"/>
                <a:ea typeface="Noto Sans KR"/>
                <a:cs typeface="Noto Sans KR"/>
              </a:rPr>
              <a:t>전략 전문인력이 고객의 문의 내용과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52647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2647B"/>
                </a:solidFill>
                <a:latin typeface="Noto Sans KR"/>
                <a:ea typeface="Noto Sans KR"/>
                <a:cs typeface="Noto Sans KR"/>
              </a:rPr>
              <a:t>요구사항을 확인하여 답변합니다.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AE93D99-3329-4E36-BD56-2AE77FC6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200650"/>
            <a:ext cx="39433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47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52647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2647B"/>
                </a:solidFill>
                <a:latin typeface="Noto Sans KR"/>
                <a:ea typeface="Noto Sans KR"/>
                <a:cs typeface="Noto Sans KR"/>
              </a:rPr>
              <a:t>게시판 문의를 통해 전략·기능·화면 등에 대한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52647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2647B"/>
                </a:solidFill>
                <a:latin typeface="Noto Sans KR"/>
                <a:ea typeface="Noto Sans KR"/>
                <a:cs typeface="Noto Sans KR"/>
              </a:rPr>
              <a:t>실제 고객 요구사항을 확인합니다.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F9B60B8-82A0-47D2-BFE1-2FB79828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200650"/>
            <a:ext cx="39433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2647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52647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2647B"/>
                </a:solidFill>
                <a:latin typeface="Noto Sans KR"/>
                <a:ea typeface="Noto Sans KR"/>
                <a:cs typeface="Noto Sans KR"/>
              </a:rPr>
              <a:t>전략선물 요청 시 작성된 전략을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52647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2647B"/>
                </a:solidFill>
                <a:latin typeface="Noto Sans KR"/>
                <a:ea typeface="Noto Sans KR"/>
                <a:cs typeface="Noto Sans KR"/>
              </a:rPr>
              <a:t>고객에게 전달합니다.</a:t>
            </a:r>
          </a:p>
        </p:txBody>
      </p:sp>
    </p:spTree>
    <p:extLst>
      <p:ext uri="{BB962C8B-B14F-4D97-AF65-F5344CB8AC3E}">
        <p14:creationId xmlns:p14="http://schemas.microsoft.com/office/powerpoint/2010/main" val="396773350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Image 0">
            <a:extLst xmlns:a="http://schemas.openxmlformats.org/drawingml/2006/main">
              <a:ext uri="{FF2B5EF4-FFF2-40B4-BE49-F238E27FC236}">
                <a16:creationId xmlns:a16="http://schemas.microsoft.com/office/drawing/2014/main" id="{B6F34B54-6B58-4641-B13A-C6640A10DB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2443edef1446bb"/>
          <a:srcRect xmlns:a="http://schemas.openxmlformats.org/drawingml/2006/main" l="0" t="-401" r="0" b="-401"/>
          <a:stretch xmlns:a="http://schemas.openxmlformats.org/drawingml/2006/main"/>
        </p:blipFill>
        <p:spPr>
          <a:xfrm xmlns:a="http://schemas.openxmlformats.org/drawingml/2006/main">
            <a:off x="571500" y="838200"/>
            <a:ext cx="11049000" cy="9525"/>
          </a:xfrm>
          <a:prstGeom xmlns:a="http://schemas.openxmlformats.org/drawingml/2006/main" prst="rect">
            <a:avLst/>
          </a:prstGeom>
        </p:spPr>
      </p:pic>
      <p:sp>
        <p:nvSpPr>
          <p:cNvPr id="59" name="슬라이드 번호 개체 틀 58">
            <a:extLst xmlns:a="http://schemas.openxmlformats.org/drawingml/2006/main">
              <a:ext uri="{FF2B5EF4-FFF2-40B4-BE49-F238E27FC236}">
                <a16:creationId xmlns:a16="http://schemas.microsoft.com/office/drawing/2014/main" id="{CA54694C-CAD0-46CD-A8BA-440F8757B757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1049000" y="6457950"/>
            <a:ext cx="571500" cy="190500"/>
          </a:xfrm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900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900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07335E"/>
                </a:solidFill>
                <a:latin typeface="Noto Sans KR"/>
                <a:ea typeface="Noto Sans KR"/>
                <a:cs typeface="Noto Sans KR"/>
              </a:rPr>
              <a:t>0</a:t>
            </a:r>
            <a:fld id="{718978F8-0755-43CA-83FD-9959296336B8}" type="slidenum">
              <a:rPr sz="900">
                <a:solidFill>
                  <a:srgbClr val="07335E"/>
                </a:solidFill>
                <a:latin typeface="Noto Sans KR"/>
                <a:ea typeface="Noto Sans KR"/>
                <a:cs typeface="Noto Sans KR"/>
              </a:rPr>
              <a:t>8</a:t>
            </a:fld>
            <a:endParaRPr/>
          </a:p>
        </p:txBody>
      </p:sp>
      <p:pic>
        <p:nvPicPr>
          <p:cNvPr id="36" name="Image 1">
            <a:extLst xmlns:a="http://schemas.openxmlformats.org/drawingml/2006/main">
              <a:ext uri="{FF2B5EF4-FFF2-40B4-BE49-F238E27FC236}">
                <a16:creationId xmlns:a16="http://schemas.microsoft.com/office/drawing/2014/main" id="{AB233511-9AFB-452E-B381-64960C3476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f008ff8a9d40e1"/>
          <a:srcRect xmlns:a="http://schemas.openxmlformats.org/drawingml/2006/main" l="0" t="-420" r="0" b="-420"/>
          <a:stretch xmlns:a="http://schemas.openxmlformats.org/drawingml/2006/main"/>
        </p:blipFill>
        <p:spPr>
          <a:xfrm xmlns:a="http://schemas.openxmlformats.org/drawingml/2006/main">
            <a:off x="571500" y="838200"/>
            <a:ext cx="762000" cy="19050"/>
          </a:xfrm>
          <a:prstGeom xmlns:a="http://schemas.openxmlformats.org/drawingml/2006/main" prst="rect">
            <a:avLst/>
          </a:prstGeom>
        </p:spPr>
      </p:pic>
      <p:sp>
        <p:nvSpPr>
          <p:cNvPr id="40" name="Text 22">
            <a:extLst xmlns:a="http://schemas.openxmlformats.org/drawingml/2006/main">
              <a:ext uri="{FF2B5EF4-FFF2-40B4-BE49-F238E27FC236}">
                <a16:creationId xmlns:a16="http://schemas.microsoft.com/office/drawing/2014/main" id="{7073D046-F297-4925-BB42-D403F8D78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spc="-37">
                <a:solidFill>
                  <a:srgbClr val="07335E"/>
                </a:solidFill>
                <a:latin typeface="Noto Sans KR"/>
                <a:ea typeface="Noto Sans KR"/>
                <a:cs typeface="Noto Sans KR"/>
              </a:rPr>
              <a:t>고객사 및 운영 현황</a:t>
            </a:r>
            <a:endParaRPr sz="1600" b="1" kern="0" spc="-37">
              <a:solidFill>
                <a:srgbClr val="002244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4" name="Text 22">
            <a:extLst xmlns:a="http://schemas.openxmlformats.org/drawingml/2006/main">
              <a:ext uri="{FF2B5EF4-FFF2-40B4-BE49-F238E27FC236}">
                <a16:creationId xmlns:a16="http://schemas.microsoft.com/office/drawing/2014/main" id="{A7A1750D-85F6-4511-A73B-D41E941B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07335E"/>
                </a:solidFill>
                <a:latin typeface="Noto Sans KR"/>
                <a:ea typeface="Noto Sans KR"/>
                <a:cs typeface="Noto Sans KR"/>
              </a:rPr>
              <a:t>다수 증권사에서 전략Q&amp;A 게시판 서비스를 운영하고 있습니다</a:t>
            </a:r>
            <a:endParaRPr sz="1400" b="1">
              <a:solidFill>
                <a:srgbClr val="002244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5" name="Text 51">
            <a:extLst xmlns:a="http://schemas.openxmlformats.org/drawingml/2006/main">
              <a:ext uri="{FF2B5EF4-FFF2-40B4-BE49-F238E27FC236}">
                <a16:creationId xmlns:a16="http://schemas.microsoft.com/office/drawing/2014/main" id="{2C6000D0-7285-4A89-B911-FFDCFD0E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67475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900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marL="0" indent="0" algn="l">
              <a:buNone/>
              <a:defRPr sz="900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rPr>
              <a:t>한국금융IT</a:t>
            </a:r>
            <a:endParaRPr sz="900"/>
          </a:p>
        </p:txBody>
      </p:sp>
      <p:sp>
        <p:nvSpPr>
          <p:cNvPr id="46" name="Text 52">
            <a:extLst xmlns:a="http://schemas.openxmlformats.org/drawingml/2006/main">
              <a:ext uri="{FF2B5EF4-FFF2-40B4-BE49-F238E27FC236}">
                <a16:creationId xmlns:a16="http://schemas.microsoft.com/office/drawing/2014/main" id="{222134BB-ACBA-4F6B-BE17-F89A28DB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6467475"/>
            <a:ext cx="1143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900">
                <a:solidFill>
                  <a:srgbClr val="C7D1DE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marL="0" indent="0" algn="l">
              <a:buNone/>
              <a:defRPr sz="900">
                <a:solidFill>
                  <a:srgbClr val="C7D1DE"/>
                </a:solidFill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C7D1DE"/>
                </a:solidFill>
                <a:latin typeface="Noto Sans KR"/>
                <a:ea typeface="Noto Sans KR"/>
                <a:cs typeface="Noto Sans KR"/>
              </a:rPr>
              <a:t>|</a:t>
            </a:r>
            <a:endParaRPr sz="900"/>
          </a:p>
        </p:txBody>
      </p:sp>
      <p:sp>
        <p:nvSpPr>
          <p:cNvPr id="47" name="Text 53">
            <a:extLst xmlns:a="http://schemas.openxmlformats.org/drawingml/2006/main">
              <a:ext uri="{FF2B5EF4-FFF2-40B4-BE49-F238E27FC236}">
                <a16:creationId xmlns:a16="http://schemas.microsoft.com/office/drawing/2014/main" id="{D26629C2-C15E-47B7-883C-B1E87735E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46747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900">
                <a:solidFill>
                  <a:srgbClr val="7B899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marL="0" indent="0" algn="l">
              <a:buNone/>
              <a:defRPr sz="900">
                <a:solidFill>
                  <a:srgbClr val="7B899B"/>
                </a:solidFill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7B899B"/>
                </a:solidFill>
                <a:latin typeface="Noto Sans KR"/>
                <a:ea typeface="Noto Sans KR"/>
                <a:cs typeface="Noto Sans KR"/>
              </a:rPr>
              <a:t>2026.10</a:t>
            </a:r>
            <a:endParaRPr sz="900"/>
          </a:p>
        </p:txBody>
      </p:sp>
      <p:sp>
        <p:nvSpPr>
          <p:cNvPr id="29" name="Text 20">
            <a:extLst xmlns:a="http://schemas.openxmlformats.org/drawingml/2006/main">
              <a:ext uri="{FF2B5EF4-FFF2-40B4-BE49-F238E27FC236}">
                <a16:creationId xmlns:a16="http://schemas.microsoft.com/office/drawing/2014/main" id="{A710AE6D-093E-4E2F-A6A8-6798A559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spc="-37">
                <a:solidFill>
                  <a:srgbClr val="07335E"/>
                </a:solidFill>
                <a:latin typeface="Noto Sans KR"/>
                <a:ea typeface="Noto Sans KR"/>
                <a:cs typeface="Noto Sans KR"/>
              </a:rPr>
              <a:t>02   서비스 특징 및 운영 현황</a:t>
            </a:r>
            <a:endParaRPr b="1" kern="0" spc="-75">
              <a:solidFill>
                <a:srgbClr val="002244"/>
              </a:solidFill>
              <a:latin typeface="Noto Sans KR"/>
              <a:ea typeface="Noto Sans KR"/>
              <a:cs typeface="Noto Sans KR"/>
            </a:endParaRPr>
          </a:p>
        </p:txBody>
      </p:sp>
      <p:graphicFrame>
        <p:nvGraphicFramePr>
          <p:cNvPr id="31" name="Google Shape;96;p13">
            <a:extLst xmlns:a="http://schemas.openxmlformats.org/drawingml/2006/main">
              <a:ext uri="{FF2B5EF4-FFF2-40B4-BE49-F238E27FC236}">
                <a16:creationId xmlns:a16="http://schemas.microsoft.com/office/drawing/2014/main" id="{0460526C-01A9-4C57-B0FE-11578C63039C}"/>
              </a:ext>
            </a:extLst>
          </p:cNvPr>
          <p:cNvGraphicFramePr/>
          <p:nvPr/>
        </p:nvGraphicFramePr>
        <p:xfrm>
          <a:off xmlns:a="http://schemas.openxmlformats.org/drawingml/2006/main" x="4203298" y="2417628"/>
          <a:ext xmlns:a="http://schemas.openxmlformats.org/drawingml/2006/main" cx="7358975" cy="386528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074551"/>
                <a:gridCol w="1946358"/>
                <a:gridCol w="1946358"/>
                <a:gridCol w="2391708"/>
              </a:tblGrid>
              <a:tr h="483160"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chemeClr val="bg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구분</a:t>
                      </a:r>
                      <a:endParaRPr sz="1400" b="1">
                        <a:solidFill>
                          <a:schemeClr val="bg1"/>
                        </a:solidFill>
                        <a:latin typeface="Noto Sans KR"/>
                        <a:ea typeface="Noto Sans KR"/>
                        <a:cs typeface="Noto Sans KR"/>
                      </a:endParaRPr>
                    </a:p>
                  </a:txBody>
                  <a:tcPr marL="63500" marR="63500" marT="25400" marB="25400" anchor="ctr">
                    <a:lnL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chemeClr val="bg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운영기간</a:t>
                      </a:r>
                      <a:endParaRPr sz="1400" b="1">
                        <a:solidFill>
                          <a:schemeClr val="bg1"/>
                        </a:solidFill>
                        <a:latin typeface="Noto Sans KR"/>
                        <a:ea typeface="Noto Sans KR"/>
                        <a:cs typeface="Noto Sans KR"/>
                      </a:endParaRPr>
                    </a:p>
                  </a:txBody>
                  <a:tcPr marL="63500" marR="63500" marT="25400" marB="25400" anchor="ctr">
                    <a:lnL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chemeClr val="bg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제공매체</a:t>
                      </a:r>
                      <a:endParaRPr sz="1400" b="1">
                        <a:solidFill>
                          <a:schemeClr val="bg1"/>
                        </a:solidFill>
                        <a:latin typeface="Noto Sans KR"/>
                        <a:ea typeface="Noto Sans KR"/>
                        <a:cs typeface="Noto Sans KR"/>
                      </a:endParaRPr>
                    </a:p>
                  </a:txBody>
                  <a:tcPr marL="63500" marR="63500" marT="25400" marB="25400" anchor="ctr">
                    <a:lnL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chemeClr val="bg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비고</a:t>
                      </a:r>
                      <a:endParaRPr sz="1400" b="1">
                        <a:solidFill>
                          <a:schemeClr val="bg1"/>
                        </a:solidFill>
                        <a:latin typeface="Noto Sans KR"/>
                        <a:ea typeface="Noto Sans KR"/>
                        <a:cs typeface="Noto Sans KR"/>
                      </a:endParaRPr>
                    </a:p>
                  </a:txBody>
                  <a:tcPr marL="63500" marR="63500" marT="25400" marB="25400" anchor="ctr">
                    <a:lnL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rgbClr val="003366"/>
                    </a:solidFill>
                  </a:tcPr>
                </a:tc>
              </a:tr>
              <a:tr h="4831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200">
                        <a:latin typeface="Noto Sans KR"/>
                        <a:ea typeface="Noto Sans KR"/>
                        <a:cs typeface="Noto Sans KR"/>
                      </a:endParaRPr>
                    </a:p>
                  </a:txBody>
                  <a:tcPr marL="63500" marR="63500" marT="25400" marB="25400" anchor="ctr">
                    <a:lnL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/>
                        <a:buNone/>
                      </a:pPr>
                      <a:r>
                        <a:rPr sz="1200" b="0" i="0" u="none" strike="noStrike" cap="none">
                          <a:solidFill>
                            <a:srgbClr val="002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2017</a:t>
                      </a:r>
                      <a:r>
                        <a:rPr sz="1200" b="0" i="0" u="none" strike="noStrike" cap="none">
                          <a:solidFill>
                            <a:srgbClr val="002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년 </a:t>
                      </a:r>
                      <a:r>
                        <a:rPr sz="1200" b="0" i="0" u="none" strike="noStrike" cap="none">
                          <a:solidFill>
                            <a:srgbClr val="002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</a:t>
                      </a:r>
                      <a:r>
                        <a:rPr sz="1200" b="0" i="0" u="none" strike="noStrike" cap="none">
                          <a:solidFill>
                            <a:srgbClr val="002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월 </a:t>
                      </a:r>
                      <a:r>
                        <a:rPr sz="1200" b="0" i="0" u="none" strike="noStrike" cap="none">
                          <a:solidFill>
                            <a:srgbClr val="002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~ </a:t>
                      </a:r>
                      <a:r>
                        <a:rPr sz="1200" b="0" i="0" u="none" strike="noStrike" cap="none">
                          <a:solidFill>
                            <a:srgbClr val="002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현재</a:t>
                      </a:r>
                    </a:p>
                  </a:txBody>
                  <a:tcPr marL="63500" marR="63500" marT="25400" marB="25400" anchor="ctr">
                    <a:lnL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None/>
                      </a:pPr>
                      <a:r>
                        <a:rPr sz="1200" b="0" i="0" u="none" strike="noStrike" cap="none">
                          <a:solidFill>
                            <a:srgbClr val="002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HTS / MTS</a:t>
                      </a:r>
                      <a:endParaRPr sz="1200" b="0" i="0" u="none" strike="noStrike" cap="none">
                        <a:solidFill>
                          <a:srgbClr val="002244"/>
                        </a:solidFill>
                        <a:latin typeface="Noto Sans KR"/>
                        <a:ea typeface="Noto Sans KR"/>
                        <a:cs typeface="Noto Sans KR"/>
                      </a:endParaRPr>
                    </a:p>
                  </a:txBody>
                  <a:tcPr marL="63500" marR="63500" marT="25400" marB="25400" anchor="ctr">
                    <a:lnL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/>
                        <a:buChar char="ü"/>
                      </a:pPr>
                      <a:endParaRPr sz="1200">
                        <a:latin typeface="Noto Sans KR"/>
                        <a:ea typeface="Noto Sans KR"/>
                        <a:cs typeface="Noto Sans KR"/>
                      </a:endParaRPr>
                    </a:p>
                  </a:txBody>
                  <a:tcPr marL="63500" marR="63500" marT="25400" marB="25400" anchor="ctr">
                    <a:lnL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</a:tcPr>
                </a:tc>
              </a:tr>
              <a:tr h="4831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200">
                        <a:latin typeface="Noto Sans KR"/>
                        <a:ea typeface="Noto Sans KR"/>
                        <a:cs typeface="Noto Sans KR"/>
                      </a:endParaRPr>
                    </a:p>
                  </a:txBody>
                  <a:tcPr marL="63500" marR="63500" marT="25400" marB="25400" anchor="ctr">
                    <a:lnL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None/>
                      </a:pPr>
                      <a:r>
                        <a:rPr sz="1200" b="0" i="0" u="none" strike="noStrike" cap="none">
                          <a:solidFill>
                            <a:srgbClr val="002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2020</a:t>
                      </a:r>
                      <a:r>
                        <a:rPr sz="1200" b="0" i="0" u="none" strike="noStrike" cap="none">
                          <a:solidFill>
                            <a:srgbClr val="002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년 </a:t>
                      </a:r>
                      <a:r>
                        <a:rPr sz="1200" b="0" i="0" u="none" strike="noStrike" cap="none">
                          <a:solidFill>
                            <a:srgbClr val="002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</a:t>
                      </a:r>
                      <a:r>
                        <a:rPr sz="1200" b="0" i="0" u="none" strike="noStrike" cap="none">
                          <a:solidFill>
                            <a:srgbClr val="002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월 </a:t>
                      </a:r>
                      <a:r>
                        <a:rPr sz="1200" b="0" i="0" u="none" strike="noStrike" cap="none">
                          <a:solidFill>
                            <a:srgbClr val="002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~ </a:t>
                      </a:r>
                      <a:r>
                        <a:rPr sz="1200" b="0" i="0" u="none" strike="noStrike" cap="none">
                          <a:solidFill>
                            <a:srgbClr val="002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현재</a:t>
                      </a:r>
                    </a:p>
                  </a:txBody>
                  <a:tcPr marL="63500" marR="63500" marT="25400" marB="25400" anchor="ctr">
                    <a:lnL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None/>
                      </a:pPr>
                      <a:r>
                        <a:rPr sz="1200" b="0" i="0" u="none" strike="noStrike" cap="none">
                          <a:solidFill>
                            <a:srgbClr val="002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해외주식 전용</a:t>
                      </a:r>
                    </a:p>
                  </a:txBody>
                  <a:tcPr marL="63500" marR="63500" marT="25400" marB="25400" anchor="ctr">
                    <a:lnL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/>
                        <a:buChar char="ü"/>
                      </a:pPr>
                      <a:endParaRPr sz="1200">
                        <a:latin typeface="Noto Sans KR"/>
                        <a:ea typeface="Noto Sans KR"/>
                        <a:cs typeface="Noto Sans KR"/>
                      </a:endParaRPr>
                    </a:p>
                  </a:txBody>
                  <a:tcPr marL="63500" marR="63500" marT="25400" marB="25400" anchor="ctr">
                    <a:lnL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</a:tcPr>
                </a:tc>
              </a:tr>
              <a:tr h="4831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200">
                        <a:latin typeface="Noto Sans KR"/>
                        <a:ea typeface="Noto Sans KR"/>
                        <a:cs typeface="Noto Sans KR"/>
                      </a:endParaRPr>
                    </a:p>
                  </a:txBody>
                  <a:tcPr marL="63500" marR="63500" marT="25400" marB="25400" anchor="ctr">
                    <a:lnL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None/>
                      </a:pPr>
                      <a:r>
                        <a:rPr sz="1200" b="0" i="0" u="none" strike="noStrike" cap="none">
                          <a:solidFill>
                            <a:srgbClr val="002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2017</a:t>
                      </a:r>
                      <a:r>
                        <a:rPr sz="1200" b="0" i="0" u="none" strike="noStrike" cap="none">
                          <a:solidFill>
                            <a:srgbClr val="002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년 </a:t>
                      </a:r>
                      <a:r>
                        <a:rPr sz="1200" b="0" i="0" u="none" strike="noStrike" cap="none">
                          <a:solidFill>
                            <a:srgbClr val="002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</a:t>
                      </a:r>
                      <a:r>
                        <a:rPr sz="1200" b="0" i="0" u="none" strike="noStrike" cap="none">
                          <a:solidFill>
                            <a:srgbClr val="002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월 </a:t>
                      </a:r>
                      <a:r>
                        <a:rPr sz="1200" b="0" i="0" u="none" strike="noStrike" cap="none">
                          <a:solidFill>
                            <a:srgbClr val="002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~ </a:t>
                      </a:r>
                      <a:r>
                        <a:rPr sz="1200" b="0" i="0" u="none" strike="noStrike" cap="none">
                          <a:solidFill>
                            <a:srgbClr val="002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현재</a:t>
                      </a:r>
                    </a:p>
                  </a:txBody>
                  <a:tcPr marL="63500" marR="63500" marT="25400" marB="25400" anchor="ctr">
                    <a:lnL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None/>
                      </a:pPr>
                      <a:r>
                        <a:rPr sz="1200" b="0" i="0" u="none" strike="noStrike" cap="none">
                          <a:solidFill>
                            <a:srgbClr val="002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HTS / MTS</a:t>
                      </a:r>
                      <a:endParaRPr sz="1200" b="0" i="0" u="none" strike="noStrike" kern="1200" cap="none">
                        <a:solidFill>
                          <a:srgbClr val="002244"/>
                        </a:solidFill>
                        <a:latin typeface="Noto Sans KR"/>
                        <a:ea typeface="Noto Sans KR"/>
                        <a:cs typeface="Noto Sans KR"/>
                      </a:endParaRPr>
                    </a:p>
                  </a:txBody>
                  <a:tcPr marL="63500" marR="63500" marT="25400" marB="25400" anchor="ctr">
                    <a:lnL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/>
                        <a:buChar char="ü"/>
                      </a:pPr>
                      <a:r>
                        <a:rPr sz="1200">
                          <a:latin typeface="Noto Sans KR"/>
                          <a:ea typeface="Noto Sans KR"/>
                          <a:cs typeface="Noto Sans KR"/>
                        </a:rPr>
                        <a:t>모바일 조건검색 제공</a:t>
                      </a:r>
                      <a:endParaRPr sz="1200">
                        <a:latin typeface="Noto Sans KR"/>
                        <a:ea typeface="Noto Sans KR"/>
                        <a:cs typeface="Noto Sans KR"/>
                      </a:endParaRPr>
                    </a:p>
                  </a:txBody>
                  <a:tcPr marL="63500" marR="63500" marT="25400" marB="25400" anchor="ctr">
                    <a:lnL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</a:tcPr>
                </a:tc>
              </a:tr>
              <a:tr h="4831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200">
                        <a:latin typeface="Noto Sans KR"/>
                        <a:ea typeface="Noto Sans KR"/>
                        <a:cs typeface="Noto Sans KR"/>
                      </a:endParaRPr>
                    </a:p>
                  </a:txBody>
                  <a:tcPr marL="63500" marR="63500" marT="25400" marB="25400" anchor="ctr">
                    <a:lnL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None/>
                      </a:pPr>
                      <a:r>
                        <a:rPr sz="1200" b="0" i="0" u="none" strike="noStrike" cap="none">
                          <a:solidFill>
                            <a:srgbClr val="002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2020</a:t>
                      </a:r>
                      <a:r>
                        <a:rPr sz="1200" b="0" i="0" u="none" strike="noStrike" cap="none">
                          <a:solidFill>
                            <a:srgbClr val="002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년 </a:t>
                      </a:r>
                      <a:r>
                        <a:rPr sz="1200" b="0" i="0" u="none" strike="noStrike" cap="none">
                          <a:solidFill>
                            <a:srgbClr val="002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</a:t>
                      </a:r>
                      <a:r>
                        <a:rPr sz="1200" b="0" i="0" u="none" strike="noStrike" cap="none">
                          <a:solidFill>
                            <a:srgbClr val="002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월  </a:t>
                      </a:r>
                      <a:r>
                        <a:rPr sz="1200" b="0" i="0" u="none" strike="noStrike" cap="none">
                          <a:solidFill>
                            <a:srgbClr val="002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~ </a:t>
                      </a:r>
                      <a:r>
                        <a:rPr sz="1200" b="0" i="0" u="none" strike="noStrike" cap="none">
                          <a:solidFill>
                            <a:srgbClr val="002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현재</a:t>
                      </a:r>
                    </a:p>
                  </a:txBody>
                  <a:tcPr marL="63500" marR="63500" marT="25400" marB="25400" anchor="ctr">
                    <a:lnL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None/>
                      </a:pPr>
                      <a:r>
                        <a:rPr sz="1200" b="0" i="0" u="none" strike="noStrike" cap="none">
                          <a:solidFill>
                            <a:srgbClr val="002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HTS / MTS</a:t>
                      </a:r>
                      <a:endParaRPr sz="1200" b="0" i="0" u="none" strike="noStrike" kern="1200" cap="none">
                        <a:solidFill>
                          <a:srgbClr val="002244"/>
                        </a:solidFill>
                        <a:latin typeface="Noto Sans KR"/>
                        <a:ea typeface="Noto Sans KR"/>
                        <a:cs typeface="Noto Sans KR"/>
                      </a:endParaRPr>
                    </a:p>
                  </a:txBody>
                  <a:tcPr marL="63500" marR="63500" marT="25400" marB="25400" anchor="ctr">
                    <a:lnL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/>
                        <a:buChar char="ü"/>
                      </a:pPr>
                      <a:r>
                        <a:rPr sz="1200">
                          <a:latin typeface="Noto Sans KR"/>
                          <a:ea typeface="Noto Sans KR"/>
                          <a:cs typeface="Noto Sans KR"/>
                        </a:rPr>
                        <a:t>모바일 조건검색 제공</a:t>
                      </a:r>
                      <a:endParaRPr sz="1200">
                        <a:latin typeface="Noto Sans KR"/>
                        <a:ea typeface="Noto Sans KR"/>
                        <a:cs typeface="Noto Sans KR"/>
                      </a:endParaRPr>
                    </a:p>
                  </a:txBody>
                  <a:tcPr marL="63500" marR="63500" marT="25400" marB="25400" anchor="ctr">
                    <a:lnL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4831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200">
                        <a:latin typeface="Noto Sans KR"/>
                        <a:ea typeface="Noto Sans KR"/>
                        <a:cs typeface="Noto Sans KR"/>
                      </a:endParaRPr>
                    </a:p>
                  </a:txBody>
                  <a:tcPr marL="63500" marR="63500" marT="25400" marB="25400" anchor="ctr">
                    <a:lnL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None/>
                      </a:pPr>
                      <a:r>
                        <a:rPr sz="1200" b="0" i="0" u="none" strike="noStrike" cap="none">
                          <a:solidFill>
                            <a:srgbClr val="002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2024</a:t>
                      </a:r>
                      <a:r>
                        <a:rPr sz="1200" b="0" i="0" u="none" strike="noStrike" cap="none">
                          <a:solidFill>
                            <a:srgbClr val="002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년 </a:t>
                      </a:r>
                      <a:r>
                        <a:rPr sz="1200" b="0" i="0" u="none" strike="noStrike" cap="none">
                          <a:solidFill>
                            <a:srgbClr val="002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</a:t>
                      </a:r>
                      <a:r>
                        <a:rPr sz="1200" b="0" i="0" u="none" strike="noStrike" cap="none">
                          <a:solidFill>
                            <a:srgbClr val="002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월 </a:t>
                      </a:r>
                      <a:r>
                        <a:rPr sz="1200" b="0" i="0" u="none" strike="noStrike" cap="none">
                          <a:solidFill>
                            <a:srgbClr val="002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~ </a:t>
                      </a:r>
                      <a:r>
                        <a:rPr sz="1200" b="0" i="0" u="none" strike="noStrike" cap="none">
                          <a:solidFill>
                            <a:srgbClr val="002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현재</a:t>
                      </a:r>
                    </a:p>
                  </a:txBody>
                  <a:tcPr marL="63500" marR="63500" marT="25400" marB="25400" anchor="ctr">
                    <a:lnL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None/>
                      </a:pPr>
                      <a:r>
                        <a:rPr sz="1200" b="0" i="0" u="none" strike="noStrike" cap="none">
                          <a:solidFill>
                            <a:srgbClr val="002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HTS / MTS</a:t>
                      </a:r>
                      <a:endParaRPr sz="1200" b="0" i="0" u="none" strike="noStrike" kern="1200" cap="none">
                        <a:solidFill>
                          <a:srgbClr val="002244"/>
                        </a:solidFill>
                        <a:latin typeface="Noto Sans KR"/>
                        <a:ea typeface="Noto Sans KR"/>
                        <a:cs typeface="Noto Sans KR"/>
                      </a:endParaRPr>
                    </a:p>
                  </a:txBody>
                  <a:tcPr marL="63500" marR="63500" marT="25400" marB="25400" anchor="ctr">
                    <a:lnL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/>
                        <a:buChar char="ü"/>
                      </a:pPr>
                      <a:r>
                        <a:rPr sz="1200">
                          <a:latin typeface="Noto Sans KR"/>
                          <a:ea typeface="Noto Sans KR"/>
                          <a:cs typeface="Noto Sans KR"/>
                        </a:rPr>
                        <a:t>모바일 조건검색 제공</a:t>
                      </a:r>
                      <a:endParaRPr sz="1200">
                        <a:latin typeface="Noto Sans KR"/>
                        <a:ea typeface="Noto Sans KR"/>
                        <a:cs typeface="Noto Sans KR"/>
                      </a:endParaRPr>
                    </a:p>
                  </a:txBody>
                  <a:tcPr marL="63500" marR="63500" marT="25400" marB="25400" anchor="ctr">
                    <a:lnL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4831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200">
                        <a:latin typeface="Noto Sans KR"/>
                        <a:ea typeface="Noto Sans KR"/>
                        <a:cs typeface="Noto Sans KR"/>
                      </a:endParaRPr>
                    </a:p>
                  </a:txBody>
                  <a:tcPr marL="63500" marR="63500" marT="25400" marB="25400" anchor="ctr">
                    <a:lnL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None/>
                      </a:pPr>
                      <a:r>
                        <a:rPr sz="1200" b="0" i="0" u="none" strike="noStrike" cap="none">
                          <a:solidFill>
                            <a:srgbClr val="002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2021</a:t>
                      </a:r>
                      <a:r>
                        <a:rPr sz="1200" b="0" i="0" u="none" strike="noStrike" cap="none">
                          <a:solidFill>
                            <a:srgbClr val="002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년 </a:t>
                      </a:r>
                      <a:r>
                        <a:rPr sz="1200" b="0" i="0" u="none" strike="noStrike" cap="none">
                          <a:solidFill>
                            <a:srgbClr val="002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</a:t>
                      </a:r>
                      <a:r>
                        <a:rPr sz="1200" b="0" i="0" u="none" strike="noStrike" cap="none">
                          <a:solidFill>
                            <a:srgbClr val="002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월 </a:t>
                      </a:r>
                      <a:r>
                        <a:rPr sz="1200" b="0" i="0" u="none" strike="noStrike" cap="none">
                          <a:solidFill>
                            <a:srgbClr val="002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~ </a:t>
                      </a:r>
                      <a:r>
                        <a:rPr sz="1200" b="0" i="0" u="none" strike="noStrike" cap="none">
                          <a:solidFill>
                            <a:srgbClr val="002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현재</a:t>
                      </a:r>
                    </a:p>
                  </a:txBody>
                  <a:tcPr marL="63500" marR="63500" marT="25400" marB="25400" anchor="ctr">
                    <a:lnL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None/>
                      </a:pPr>
                      <a:r>
                        <a:rPr sz="1200" b="0" i="0" u="none" strike="noStrike" cap="none">
                          <a:solidFill>
                            <a:srgbClr val="002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HTS / MTS</a:t>
                      </a:r>
                      <a:endParaRPr sz="1200" b="0" i="0" u="none" strike="noStrike" kern="1200" cap="none">
                        <a:solidFill>
                          <a:srgbClr val="002244"/>
                        </a:solidFill>
                        <a:latin typeface="Noto Sans KR"/>
                        <a:ea typeface="Noto Sans KR"/>
                        <a:cs typeface="Noto Sans KR"/>
                      </a:endParaRPr>
                    </a:p>
                  </a:txBody>
                  <a:tcPr marL="63500" marR="63500" marT="25400" marB="25400" anchor="ctr">
                    <a:lnL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/>
                        <a:buChar char="ü"/>
                      </a:pPr>
                      <a:r>
                        <a:rPr sz="1200">
                          <a:latin typeface="Noto Sans KR"/>
                          <a:ea typeface="Noto Sans KR"/>
                          <a:cs typeface="Noto Sans KR"/>
                        </a:rPr>
                        <a:t>모바일 조건검색 제공</a:t>
                      </a:r>
                      <a:endParaRPr sz="1200">
                        <a:latin typeface="Noto Sans KR"/>
                        <a:ea typeface="Noto Sans KR"/>
                        <a:cs typeface="Noto Sans KR"/>
                      </a:endParaRPr>
                    </a:p>
                  </a:txBody>
                  <a:tcPr marL="63500" marR="63500" marT="25400" marB="25400" anchor="ctr">
                    <a:lnL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4831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200">
                        <a:latin typeface="Noto Sans KR"/>
                        <a:ea typeface="Noto Sans KR"/>
                        <a:cs typeface="Noto Sans KR"/>
                      </a:endParaRPr>
                    </a:p>
                  </a:txBody>
                  <a:tcPr marL="63500" marR="63500" marT="25400" marB="25400" anchor="ctr">
                    <a:lnL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None/>
                      </a:pPr>
                      <a:r>
                        <a:rPr sz="1200" b="0" i="0" u="none" strike="noStrike" cap="none">
                          <a:solidFill>
                            <a:srgbClr val="002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2019</a:t>
                      </a:r>
                      <a:r>
                        <a:rPr sz="1200" b="0" i="0" u="none" strike="noStrike" cap="none">
                          <a:solidFill>
                            <a:srgbClr val="002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년 </a:t>
                      </a:r>
                      <a:r>
                        <a:rPr sz="1200" b="0" i="0" u="none" strike="noStrike" cap="none">
                          <a:solidFill>
                            <a:srgbClr val="002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</a:t>
                      </a:r>
                      <a:r>
                        <a:rPr sz="1200" b="0" i="0" u="none" strike="noStrike" cap="none">
                          <a:solidFill>
                            <a:srgbClr val="002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월 </a:t>
                      </a:r>
                      <a:r>
                        <a:rPr sz="1200" b="0" i="0" u="none" strike="noStrike" cap="none">
                          <a:solidFill>
                            <a:srgbClr val="002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~ </a:t>
                      </a:r>
                      <a:r>
                        <a:rPr sz="1200" b="0" i="0" u="none" strike="noStrike" cap="none">
                          <a:solidFill>
                            <a:srgbClr val="002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현재</a:t>
                      </a:r>
                    </a:p>
                  </a:txBody>
                  <a:tcPr marL="63500" marR="63500" marT="25400" marB="25400" anchor="ctr">
                    <a:lnL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None/>
                      </a:pPr>
                      <a:r>
                        <a:rPr sz="1200" b="0" i="0" u="none" strike="noStrike" cap="none">
                          <a:solidFill>
                            <a:srgbClr val="0022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HTS</a:t>
                      </a:r>
                      <a:endParaRPr sz="1200" b="0" i="0" u="none" strike="noStrike" kern="1200" cap="none">
                        <a:solidFill>
                          <a:srgbClr val="002244"/>
                        </a:solidFill>
                        <a:latin typeface="Noto Sans KR"/>
                        <a:ea typeface="Noto Sans KR"/>
                        <a:cs typeface="Noto Sans KR"/>
                      </a:endParaRPr>
                    </a:p>
                  </a:txBody>
                  <a:tcPr marL="63500" marR="63500" marT="25400" marB="25400" anchor="ctr">
                    <a:lnL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/>
                        <a:buChar char="ü"/>
                      </a:pPr>
                      <a:endParaRPr sz="1200">
                        <a:latin typeface="Noto Sans KR"/>
                        <a:ea typeface="Noto Sans KR"/>
                        <a:cs typeface="Noto Sans KR"/>
                      </a:endParaRPr>
                    </a:p>
                  </a:txBody>
                  <a:tcPr marL="63500" marR="63500" marT="25400" marB="25400" anchor="ctr">
                    <a:lnL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3175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48" name="그림 47">
            <a:extLst xmlns:a="http://schemas.openxmlformats.org/drawingml/2006/main">
              <a:ext uri="{FF2B5EF4-FFF2-40B4-BE49-F238E27FC236}">
                <a16:creationId xmlns:a16="http://schemas.microsoft.com/office/drawing/2014/main" id="{0458314B-35DC-413B-A20D-2F23B688CA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98ae549ed04b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17830" y="2952815"/>
            <a:ext cx="1038021" cy="400798"/>
          </a:xfrm>
          <a:prstGeom xmlns:a="http://schemas.openxmlformats.org/drawingml/2006/main" prst="rect">
            <a:avLst/>
          </a:prstGeom>
        </p:spPr>
      </p:pic>
      <p:pic>
        <p:nvPicPr>
          <p:cNvPr id="50" name="그림 49">
            <a:extLst xmlns:a="http://schemas.openxmlformats.org/drawingml/2006/main">
              <a:ext uri="{FF2B5EF4-FFF2-40B4-BE49-F238E27FC236}">
                <a16:creationId xmlns:a16="http://schemas.microsoft.com/office/drawing/2014/main" id="{2803F53D-8ECD-45FE-8C57-CECE08AE73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98ae549ed04b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17830" y="3413023"/>
            <a:ext cx="1038021" cy="400798"/>
          </a:xfrm>
          <a:prstGeom xmlns:a="http://schemas.openxmlformats.org/drawingml/2006/main" prst="rect">
            <a:avLst/>
          </a:prstGeom>
        </p:spPr>
      </p:pic>
      <p:pic>
        <p:nvPicPr>
          <p:cNvPr id="51" name="그림 50">
            <a:extLst xmlns:a="http://schemas.openxmlformats.org/drawingml/2006/main">
              <a:ext uri="{FF2B5EF4-FFF2-40B4-BE49-F238E27FC236}">
                <a16:creationId xmlns:a16="http://schemas.microsoft.com/office/drawing/2014/main" id="{05FC1FF5-4C8C-4DA0-BC87-044C2EE99F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f285ea0448a4323"/>
          <a:srcRect xmlns:a="http://schemas.openxmlformats.org/drawingml/2006/main" l="0" t="33951" r="0" b="31049"/>
          <a:stretch xmlns:a="http://schemas.openxmlformats.org/drawingml/2006/main"/>
        </p:blipFill>
        <p:spPr>
          <a:xfrm xmlns:a="http://schemas.openxmlformats.org/drawingml/2006/main">
            <a:off x="4459925" y="3950832"/>
            <a:ext cx="573506" cy="339681"/>
          </a:xfrm>
          <a:prstGeom xmlns:a="http://schemas.openxmlformats.org/drawingml/2006/main" prst="rect">
            <a:avLst/>
          </a:prstGeom>
        </p:spPr>
      </p:pic>
      <p:pic>
        <p:nvPicPr>
          <p:cNvPr id="52" name="Picture 4">
            <a:extLst xmlns:a="http://schemas.openxmlformats.org/drawingml/2006/main">
              <a:ext uri="{FF2B5EF4-FFF2-40B4-BE49-F238E27FC236}">
                <a16:creationId xmlns:a16="http://schemas.microsoft.com/office/drawing/2014/main" id="{A1E9839C-2036-47B4-ADEC-4AB1DD5695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815f6e22a14fe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88995" y="4409334"/>
            <a:ext cx="916305" cy="357630"/>
          </a:xfrm>
          <a:prstGeom xmlns:a="http://schemas.openxmlformats.org/drawingml/2006/main" prst="rect">
            <a:avLst/>
          </a:prstGeom>
        </p:spPr>
      </p:pic>
      <p:pic>
        <p:nvPicPr>
          <p:cNvPr id="53" name="Picture 14">
            <a:extLst xmlns:a="http://schemas.openxmlformats.org/drawingml/2006/main">
              <a:ext uri="{FF2B5EF4-FFF2-40B4-BE49-F238E27FC236}">
                <a16:creationId xmlns:a16="http://schemas.microsoft.com/office/drawing/2014/main" id="{E9FF330B-DD62-4E65-B049-25D9C46CB6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9ad30cde05649d2"/>
          <a:srcRect xmlns:a="http://schemas.openxmlformats.org/drawingml/2006/main" l="11017" t="34723" r="10070" b="32935"/>
          <a:stretch xmlns:a="http://schemas.openxmlformats.org/drawingml/2006/main"/>
        </p:blipFill>
        <p:spPr>
          <a:xfrm xmlns:a="http://schemas.openxmlformats.org/drawingml/2006/main">
            <a:off x="4303727" y="4921891"/>
            <a:ext cx="850268" cy="332838"/>
          </a:xfrm>
          <a:prstGeom xmlns:a="http://schemas.openxmlformats.org/drawingml/2006/main" prst="rect">
            <a:avLst/>
          </a:prstGeom>
        </p:spPr>
      </p:pic>
      <p:pic>
        <p:nvPicPr>
          <p:cNvPr id="54" name="그림 53">
            <a:extLst xmlns:a="http://schemas.openxmlformats.org/drawingml/2006/main">
              <a:ext uri="{FF2B5EF4-FFF2-40B4-BE49-F238E27FC236}">
                <a16:creationId xmlns:a16="http://schemas.microsoft.com/office/drawing/2014/main" id="{BE602F95-3618-4C4D-9BD1-19920120B6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d3212b645d4f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96883" y="5818815"/>
            <a:ext cx="929885" cy="43269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5" name="Picture 10">
            <a:extLst xmlns:a="http://schemas.openxmlformats.org/drawingml/2006/main">
              <a:ext uri="{FF2B5EF4-FFF2-40B4-BE49-F238E27FC236}">
                <a16:creationId xmlns:a16="http://schemas.microsoft.com/office/drawing/2014/main" id="{2E892066-41E9-490A-B277-4E8C04FADC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a593c5562f430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26700" y="5356416"/>
            <a:ext cx="1022837" cy="462399"/>
          </a:xfrm>
          <a:prstGeom xmlns:a="http://schemas.openxmlformats.org/drawingml/2006/main" prst="rect">
            <a:avLst/>
          </a:prstGeom>
        </p:spPr>
      </p:pic>
      <p:sp>
        <p:nvSpPr>
          <p:cNvPr id="56" name="Text 4">
            <a:extLst xmlns:a="http://schemas.openxmlformats.org/drawingml/2006/main">
              <a:ext uri="{FF2B5EF4-FFF2-40B4-BE49-F238E27FC236}">
                <a16:creationId xmlns:a16="http://schemas.microsoft.com/office/drawing/2014/main" id="{F5FC9B1D-F36C-4A6C-8F17-DBDCBB70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1104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2647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52647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2647B"/>
                </a:solidFill>
                <a:latin typeface="Noto Sans KR"/>
                <a:ea typeface="Noto Sans KR"/>
                <a:cs typeface="Noto Sans KR"/>
              </a:rPr>
              <a:t>차세대 조건검색 도입 증권사를 중심으로 HTS·MTS에서 서비스를 제공합니다.</a:t>
            </a:r>
            <a:endParaRPr sz="1400"/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D43562D-9088-4B23-88A4-A1BAFED2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099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rPr>
              <a:t>누적 고객 질문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2889A3F-4C70-457B-90E0-8DB77205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4575" b="1">
                <a:solidFill>
                  <a:srgbClr val="005BB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4575" b="1">
                <a:solidFill>
                  <a:srgbClr val="005BB5"/>
                </a:solidFill>
                <a:latin typeface="Noto Sans KR"/>
                <a:ea typeface="Noto Sans KR"/>
                <a:cs typeface="Noto Sans KR"/>
              </a:defRPr>
            </a:pPr>
            <a:r>
              <a:rPr sz="4575" b="1">
                <a:solidFill>
                  <a:srgbClr val="005BB5"/>
                </a:solidFill>
                <a:latin typeface="Noto Sans KR"/>
                <a:ea typeface="Noto Sans KR"/>
                <a:cs typeface="Noto Sans KR"/>
              </a:rPr>
              <a:t>57,609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24295C2-6046-429F-A4E0-E06576F39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0767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005BB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725" b="1">
                <a:solidFill>
                  <a:srgbClr val="005BB5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005BB5"/>
                </a:solidFill>
                <a:latin typeface="Noto Sans KR"/>
                <a:ea typeface="Noto Sans KR"/>
                <a:cs typeface="Noto Sans KR"/>
              </a:rPr>
              <a:t>건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DEEB4DD-C86C-4765-90DD-D51C9AEC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2915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7B899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7B89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7B899B"/>
                </a:solidFill>
                <a:latin typeface="Noto Sans KR"/>
                <a:ea typeface="Noto Sans KR"/>
                <a:cs typeface="Noto Sans KR"/>
              </a:rPr>
              <a:t>2026년 10월 기준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C62AF2F-A498-41CF-B467-B33FDFE6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24450"/>
            <a:ext cx="3000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52647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500" b="0">
                <a:solidFill>
                  <a:srgbClr val="52647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2647B"/>
                </a:solidFill>
                <a:latin typeface="Noto Sans KR"/>
                <a:ea typeface="Noto Sans KR"/>
                <a:cs typeface="Noto Sans KR"/>
              </a:rPr>
              <a:t>실제 고객 문의가 지속적으로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500" b="0">
                <a:solidFill>
                  <a:srgbClr val="52647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2647B"/>
                </a:solidFill>
                <a:latin typeface="Noto Sans KR"/>
                <a:ea typeface="Noto Sans KR"/>
                <a:cs typeface="Noto Sans KR"/>
              </a:rPr>
              <a:t>축적되고 있는 운영 서비스</a:t>
            </a:r>
          </a:p>
        </p:txBody>
      </p:sp>
    </p:spTree>
    <p:extLst>
      <p:ext uri="{BB962C8B-B14F-4D97-AF65-F5344CB8AC3E}">
        <p14:creationId xmlns:p14="http://schemas.microsoft.com/office/powerpoint/2010/main" val="225264238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Image 0">
            <a:extLst xmlns:a="http://schemas.openxmlformats.org/drawingml/2006/main">
              <a:ext uri="{FF2B5EF4-FFF2-40B4-BE49-F238E27FC236}">
                <a16:creationId xmlns:a16="http://schemas.microsoft.com/office/drawing/2014/main" id="{1CC1A6E7-4C3B-432A-965A-56C8B1ED16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5b9251187e413f"/>
          <a:srcRect xmlns:a="http://schemas.openxmlformats.org/drawingml/2006/main" l="0" t="-401" r="0" b="-401"/>
          <a:stretch xmlns:a="http://schemas.openxmlformats.org/drawingml/2006/main"/>
        </p:blipFill>
        <p:spPr>
          <a:xfrm xmlns:a="http://schemas.openxmlformats.org/drawingml/2006/main">
            <a:off x="571500" y="838200"/>
            <a:ext cx="11049000" cy="9525"/>
          </a:xfrm>
          <a:prstGeom xmlns:a="http://schemas.openxmlformats.org/drawingml/2006/main" prst="rect">
            <a:avLst/>
          </a:prstGeom>
        </p:spPr>
      </p:pic>
      <p:sp>
        <p:nvSpPr>
          <p:cNvPr id="55" name="Text 51">
            <a:extLst xmlns:a="http://schemas.openxmlformats.org/drawingml/2006/main">
              <a:ext uri="{FF2B5EF4-FFF2-40B4-BE49-F238E27FC236}">
                <a16:creationId xmlns:a16="http://schemas.microsoft.com/office/drawing/2014/main" id="{C7906BDD-4616-4D13-A183-4BB2FA28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67475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900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marL="0" indent="0" algn="l">
              <a:buNone/>
              <a:defRPr sz="900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rPr>
              <a:t>한국금융IT</a:t>
            </a:r>
            <a:endParaRPr sz="900"/>
          </a:p>
        </p:txBody>
      </p:sp>
      <p:sp>
        <p:nvSpPr>
          <p:cNvPr id="56" name="Text 52">
            <a:extLst xmlns:a="http://schemas.openxmlformats.org/drawingml/2006/main">
              <a:ext uri="{FF2B5EF4-FFF2-40B4-BE49-F238E27FC236}">
                <a16:creationId xmlns:a16="http://schemas.microsoft.com/office/drawing/2014/main" id="{AAA2D6D2-91DB-4CFA-9803-886BCA828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6467475"/>
            <a:ext cx="1143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900">
                <a:solidFill>
                  <a:srgbClr val="C7D1DE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marL="0" indent="0" algn="l">
              <a:buNone/>
              <a:defRPr sz="900">
                <a:solidFill>
                  <a:srgbClr val="C7D1DE"/>
                </a:solidFill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C7D1DE"/>
                </a:solidFill>
                <a:latin typeface="Noto Sans KR"/>
                <a:ea typeface="Noto Sans KR"/>
                <a:cs typeface="Noto Sans KR"/>
              </a:rPr>
              <a:t>|</a:t>
            </a:r>
            <a:endParaRPr sz="900"/>
          </a:p>
        </p:txBody>
      </p:sp>
      <p:sp>
        <p:nvSpPr>
          <p:cNvPr id="57" name="Text 53">
            <a:extLst xmlns:a="http://schemas.openxmlformats.org/drawingml/2006/main">
              <a:ext uri="{FF2B5EF4-FFF2-40B4-BE49-F238E27FC236}">
                <a16:creationId xmlns:a16="http://schemas.microsoft.com/office/drawing/2014/main" id="{DBE6F99F-F21C-4CD5-A17E-E20087EF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46747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900">
                <a:solidFill>
                  <a:srgbClr val="7B899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marL="0" indent="0" algn="l">
              <a:buNone/>
              <a:defRPr sz="900">
                <a:solidFill>
                  <a:srgbClr val="7B899B"/>
                </a:solidFill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7B899B"/>
                </a:solidFill>
                <a:latin typeface="Noto Sans KR"/>
                <a:ea typeface="Noto Sans KR"/>
                <a:cs typeface="Noto Sans KR"/>
              </a:rPr>
              <a:t>2026.10</a:t>
            </a:r>
            <a:endParaRPr sz="900"/>
          </a:p>
        </p:txBody>
      </p:sp>
      <p:sp>
        <p:nvSpPr>
          <p:cNvPr id="59" name="슬라이드 번호 개체 틀 58">
            <a:extLst xmlns:a="http://schemas.openxmlformats.org/drawingml/2006/main">
              <a:ext uri="{FF2B5EF4-FFF2-40B4-BE49-F238E27FC236}">
                <a16:creationId xmlns:a16="http://schemas.microsoft.com/office/drawing/2014/main" id="{D68CF7E7-2C38-4A6F-B63F-15C51C4527E4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1049000" y="6457950"/>
            <a:ext cx="571500" cy="190500"/>
          </a:xfrm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900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900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07335E"/>
                </a:solidFill>
                <a:latin typeface="Noto Sans KR"/>
                <a:ea typeface="Noto Sans KR"/>
                <a:cs typeface="Noto Sans KR"/>
              </a:rPr>
              <a:t>0</a:t>
            </a:r>
            <a:fld id="{718978F8-0755-43CA-83FD-9959296336B8}" type="slidenum">
              <a:rPr sz="900">
                <a:solidFill>
                  <a:srgbClr val="07335E"/>
                </a:solidFill>
                <a:latin typeface="Noto Sans KR"/>
                <a:ea typeface="Noto Sans KR"/>
                <a:cs typeface="Noto Sans KR"/>
              </a:rPr>
              <a:t>9</a:t>
            </a:fld>
            <a:endParaRPr/>
          </a:p>
        </p:txBody>
      </p:sp>
      <p:pic>
        <p:nvPicPr>
          <p:cNvPr id="36" name="Image 1">
            <a:extLst xmlns:a="http://schemas.openxmlformats.org/drawingml/2006/main">
              <a:ext uri="{FF2B5EF4-FFF2-40B4-BE49-F238E27FC236}">
                <a16:creationId xmlns:a16="http://schemas.microsoft.com/office/drawing/2014/main" id="{B193B207-85E2-4690-95B9-84F0058222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29e00d95064bfa"/>
          <a:srcRect xmlns:a="http://schemas.openxmlformats.org/drawingml/2006/main" l="0" t="-420" r="0" b="-420"/>
          <a:stretch xmlns:a="http://schemas.openxmlformats.org/drawingml/2006/main"/>
        </p:blipFill>
        <p:spPr>
          <a:xfrm xmlns:a="http://schemas.openxmlformats.org/drawingml/2006/main">
            <a:off x="571500" y="838200"/>
            <a:ext cx="762000" cy="19050"/>
          </a:xfrm>
          <a:prstGeom xmlns:a="http://schemas.openxmlformats.org/drawingml/2006/main" prst="rect">
            <a:avLst/>
          </a:prstGeom>
        </p:spPr>
      </p:pic>
      <p:sp>
        <p:nvSpPr>
          <p:cNvPr id="39" name="Text 20">
            <a:extLst xmlns:a="http://schemas.openxmlformats.org/drawingml/2006/main">
              <a:ext uri="{FF2B5EF4-FFF2-40B4-BE49-F238E27FC236}">
                <a16:creationId xmlns:a16="http://schemas.microsoft.com/office/drawing/2014/main" id="{BFDB8568-12FF-48D1-B99C-CCB7988B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spc="-37">
                <a:solidFill>
                  <a:srgbClr val="07335E"/>
                </a:solidFill>
                <a:latin typeface="Noto Sans KR"/>
                <a:ea typeface="Noto Sans KR"/>
                <a:cs typeface="Noto Sans KR"/>
              </a:rPr>
              <a:t>02   서비스 특징 및 운영 현황</a:t>
            </a:r>
            <a:endParaRPr b="1" kern="0" spc="-75">
              <a:solidFill>
                <a:srgbClr val="002244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0" name="Text 22">
            <a:extLst xmlns:a="http://schemas.openxmlformats.org/drawingml/2006/main">
              <a:ext uri="{FF2B5EF4-FFF2-40B4-BE49-F238E27FC236}">
                <a16:creationId xmlns:a16="http://schemas.microsoft.com/office/drawing/2014/main" id="{0C26A850-4CA2-47C2-8E44-448C88B6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spc="-37">
                <a:solidFill>
                  <a:srgbClr val="07335E"/>
                </a:solidFill>
                <a:latin typeface="Noto Sans KR"/>
                <a:ea typeface="Noto Sans KR"/>
                <a:cs typeface="Noto Sans KR"/>
              </a:rPr>
              <a:t>게시판 운영 흐름</a:t>
            </a:r>
            <a:endParaRPr sz="1600" b="1" kern="0" spc="-37">
              <a:solidFill>
                <a:srgbClr val="002244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0" name="Text 5">
            <a:extLst xmlns:a="http://schemas.openxmlformats.org/drawingml/2006/main">
              <a:ext uri="{FF2B5EF4-FFF2-40B4-BE49-F238E27FC236}">
                <a16:creationId xmlns:a16="http://schemas.microsoft.com/office/drawing/2014/main" id="{CF48EC52-D108-43E9-A087-C9E5F422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1">
                <a:solidFill>
                  <a:srgbClr val="005BB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marL="0" indent="0" algn="ctr">
              <a:lnSpc>
                <a:spcPct val="112000"/>
              </a:lnSpc>
              <a:buNone/>
              <a:defRPr sz="1200" b="1">
                <a:solidFill>
                  <a:srgbClr val="005BB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05BB5"/>
                </a:solidFill>
                <a:latin typeface="Noto Sans KR"/>
                <a:ea typeface="Noto Sans KR"/>
                <a:cs typeface="Noto Sans KR"/>
              </a:rPr>
              <a:t>STEP 1</a:t>
            </a:r>
            <a:endParaRPr sz="1100">
              <a:latin typeface="Noto Sans KR"/>
              <a:ea typeface="Noto Sans KR"/>
              <a:cs typeface="Noto Sans KR"/>
            </a:endParaRPr>
          </a:p>
        </p:txBody>
      </p:sp>
      <p:sp>
        <p:nvSpPr>
          <p:cNvPr id="51" name="Text 6">
            <a:extLst xmlns:a="http://schemas.openxmlformats.org/drawingml/2006/main">
              <a:ext uri="{FF2B5EF4-FFF2-40B4-BE49-F238E27FC236}">
                <a16:creationId xmlns:a16="http://schemas.microsoft.com/office/drawing/2014/main" id="{A86DDA23-F6B2-44A5-9B05-A4764BD6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marL="0" indent="0" algn="ctr">
              <a:lnSpc>
                <a:spcPct val="112000"/>
              </a:lnSpc>
              <a:buNone/>
              <a:defRPr sz="180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rPr>
              <a:t>고객 문의</a:t>
            </a:r>
            <a:endParaRPr sz="1600">
              <a:latin typeface="Noto Sans KR"/>
              <a:ea typeface="Noto Sans KR"/>
              <a:cs typeface="Noto Sans KR"/>
            </a:endParaRPr>
          </a:p>
        </p:txBody>
      </p:sp>
      <p:sp>
        <p:nvSpPr>
          <p:cNvPr id="52" name="Text 7">
            <a:extLst xmlns:a="http://schemas.openxmlformats.org/drawingml/2006/main">
              <a:ext uri="{FF2B5EF4-FFF2-40B4-BE49-F238E27FC236}">
                <a16:creationId xmlns:a16="http://schemas.microsoft.com/office/drawing/2014/main" id="{39F2C836-0C5E-491A-82F0-CC78BFA4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25" b="0">
                <a:solidFill>
                  <a:srgbClr val="52647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425" b="0">
                <a:solidFill>
                  <a:srgbClr val="52647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2647B"/>
                </a:solidFill>
                <a:latin typeface="Noto Sans KR"/>
                <a:ea typeface="Noto Sans KR"/>
                <a:cs typeface="Noto Sans KR"/>
              </a:rPr>
              <a:t>기능 문의·전략 문의</a:t>
            </a:r>
            <a:endParaRPr sz="1100">
              <a:latin typeface="Noto Sans KR"/>
              <a:ea typeface="Noto Sans KR"/>
              <a:cs typeface="Noto Sans KR"/>
            </a:endParaRPr>
          </a:p>
          <a:p xmlns:a="http://schemas.openxmlformats.org/drawingml/2006/main">
            <a:pPr algn="ctr">
              <a:lnSpc>
                <a:spcPct val="112000"/>
              </a:lnSpc>
              <a:buNone/>
              <a:defRPr sz="1425" b="0">
                <a:solidFill>
                  <a:srgbClr val="52647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2647B"/>
                </a:solidFill>
                <a:latin typeface="Noto Sans KR"/>
                <a:ea typeface="Noto Sans KR"/>
                <a:cs typeface="Noto Sans KR"/>
              </a:rPr>
              <a:t>질의 및 요구사항 등록</a:t>
            </a:r>
            <a:endParaRPr sz="1100">
              <a:latin typeface="Noto Sans KR"/>
              <a:ea typeface="Noto Sans KR"/>
              <a:cs typeface="Noto Sans KR"/>
            </a:endParaRPr>
          </a:p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174AE83C-27DE-4CEC-9134-01E88027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133725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5AA"/>
          </a:solidFill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94" name="Text 22">
            <a:extLst xmlns:a="http://schemas.openxmlformats.org/drawingml/2006/main">
              <a:ext uri="{FF2B5EF4-FFF2-40B4-BE49-F238E27FC236}">
                <a16:creationId xmlns:a16="http://schemas.microsoft.com/office/drawing/2014/main" id="{51C877CB-0055-4914-8A62-D708122C8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07335E"/>
                </a:solidFill>
                <a:latin typeface="Noto Sans KR"/>
                <a:ea typeface="Noto Sans KR"/>
                <a:cs typeface="Noto Sans KR"/>
              </a:rPr>
              <a:t>고객 문의부터 답변과 전략 전달까지 하나의 게시판에서 연결됩니다</a:t>
            </a:r>
            <a:endParaRPr sz="1400" b="1">
              <a:solidFill>
                <a:srgbClr val="002244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4" name="Text 5">
            <a:extLst xmlns:a="http://schemas.openxmlformats.org/drawingml/2006/main">
              <a:ext uri="{FF2B5EF4-FFF2-40B4-BE49-F238E27FC236}">
                <a16:creationId xmlns:a16="http://schemas.microsoft.com/office/drawing/2014/main" id="{974ED995-8DE2-4D91-B2F6-3A8A95F4D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05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1">
                <a:solidFill>
                  <a:srgbClr val="005BB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marL="0" indent="0" algn="ctr">
              <a:lnSpc>
                <a:spcPct val="112000"/>
              </a:lnSpc>
              <a:buNone/>
              <a:defRPr sz="1200" b="1">
                <a:solidFill>
                  <a:srgbClr val="005BB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05BB5"/>
                </a:solidFill>
                <a:latin typeface="Noto Sans KR"/>
                <a:ea typeface="Noto Sans KR"/>
                <a:cs typeface="Noto Sans KR"/>
              </a:rPr>
              <a:t>STEP 2</a:t>
            </a:r>
            <a:endParaRPr sz="1100">
              <a:latin typeface="Noto Sans KR"/>
              <a:ea typeface="Noto Sans KR"/>
              <a:cs typeface="Noto Sans KR"/>
            </a:endParaRPr>
          </a:p>
        </p:txBody>
      </p:sp>
      <p:sp>
        <p:nvSpPr>
          <p:cNvPr id="35" name="Text 6">
            <a:extLst xmlns:a="http://schemas.openxmlformats.org/drawingml/2006/main">
              <a:ext uri="{FF2B5EF4-FFF2-40B4-BE49-F238E27FC236}">
                <a16:creationId xmlns:a16="http://schemas.microsoft.com/office/drawing/2014/main" id="{4AC45C49-C0BB-4B85-8684-51026A97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8625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marL="0" indent="0" algn="ctr">
              <a:lnSpc>
                <a:spcPct val="112000"/>
              </a:lnSpc>
              <a:buNone/>
              <a:defRPr sz="180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rPr>
              <a:t>문의내용 확인</a:t>
            </a:r>
            <a:endParaRPr sz="1600">
              <a:latin typeface="Noto Sans KR"/>
              <a:ea typeface="Noto Sans KR"/>
              <a:cs typeface="Noto Sans KR"/>
            </a:endParaRPr>
          </a:p>
        </p:txBody>
      </p:sp>
      <p:sp>
        <p:nvSpPr>
          <p:cNvPr id="41" name="Text 7">
            <a:extLst xmlns:a="http://schemas.openxmlformats.org/drawingml/2006/main">
              <a:ext uri="{FF2B5EF4-FFF2-40B4-BE49-F238E27FC236}">
                <a16:creationId xmlns:a16="http://schemas.microsoft.com/office/drawing/2014/main" id="{879E37A5-C07E-4B83-97D2-DDF4EABD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76800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25" b="0">
                <a:solidFill>
                  <a:srgbClr val="52647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425" b="0">
                <a:solidFill>
                  <a:srgbClr val="52647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2647B"/>
                </a:solidFill>
                <a:latin typeface="Noto Sans KR"/>
                <a:ea typeface="Noto Sans KR"/>
                <a:cs typeface="Noto Sans KR"/>
              </a:rPr>
              <a:t>전략 전문인력이 문의내용과</a:t>
            </a:r>
            <a:endParaRPr sz="1100">
              <a:solidFill>
                <a:srgbClr val="333333"/>
              </a:solidFill>
              <a:latin typeface="Noto Sans KR"/>
              <a:ea typeface="Noto Sans KR"/>
              <a:cs typeface="Noto Sans KR"/>
            </a:endParaRPr>
          </a:p>
          <a:p xmlns:a="http://schemas.openxmlformats.org/drawingml/2006/main">
            <a:pPr algn="ctr">
              <a:lnSpc>
                <a:spcPct val="112000"/>
              </a:lnSpc>
              <a:buNone/>
              <a:defRPr sz="1425" b="0">
                <a:solidFill>
                  <a:srgbClr val="52647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2647B"/>
                </a:solidFill>
                <a:latin typeface="Noto Sans KR"/>
                <a:ea typeface="Noto Sans KR"/>
                <a:cs typeface="Noto Sans KR"/>
              </a:rPr>
              <a:t>요구사항 확인</a:t>
            </a:r>
            <a:endParaRPr sz="1100">
              <a:latin typeface="Noto Sans KR"/>
              <a:ea typeface="Noto Sans KR"/>
              <a:cs typeface="Noto Sans KR"/>
            </a:endParaRPr>
          </a:p>
        </p:txBody>
      </p:sp>
      <p:sp>
        <p:nvSpPr>
          <p:cNvPr id="45" name="Text 5">
            <a:extLst xmlns:a="http://schemas.openxmlformats.org/drawingml/2006/main">
              <a:ext uri="{FF2B5EF4-FFF2-40B4-BE49-F238E27FC236}">
                <a16:creationId xmlns:a16="http://schemas.microsoft.com/office/drawing/2014/main" id="{8DD685DB-AAA5-46C6-B01D-35AA8B4C4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1">
                <a:solidFill>
                  <a:srgbClr val="005BB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marL="0" indent="0" algn="ctr">
              <a:lnSpc>
                <a:spcPct val="112000"/>
              </a:lnSpc>
              <a:buNone/>
              <a:defRPr sz="1200" b="1">
                <a:solidFill>
                  <a:srgbClr val="005BB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05BB5"/>
                </a:solidFill>
                <a:latin typeface="Noto Sans KR"/>
                <a:ea typeface="Noto Sans KR"/>
                <a:cs typeface="Noto Sans KR"/>
              </a:rPr>
              <a:t>STEP 3</a:t>
            </a:r>
            <a:endParaRPr sz="1100">
              <a:latin typeface="Noto Sans KR"/>
              <a:ea typeface="Noto Sans KR"/>
              <a:cs typeface="Noto Sans KR"/>
            </a:endParaRPr>
          </a:p>
        </p:txBody>
      </p:sp>
      <p:sp>
        <p:nvSpPr>
          <p:cNvPr id="46" name="Text 6">
            <a:extLst xmlns:a="http://schemas.openxmlformats.org/drawingml/2006/main">
              <a:ext uri="{FF2B5EF4-FFF2-40B4-BE49-F238E27FC236}">
                <a16:creationId xmlns:a16="http://schemas.microsoft.com/office/drawing/2014/main" id="{6E27704D-A6CA-45E4-9C60-70B1E268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8625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marL="0" indent="0" algn="ctr">
              <a:lnSpc>
                <a:spcPct val="112000"/>
              </a:lnSpc>
              <a:buNone/>
              <a:defRPr sz="180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rPr>
              <a:t>답변 및 전략 작성</a:t>
            </a:r>
            <a:endParaRPr sz="1600">
              <a:latin typeface="Noto Sans KR"/>
              <a:ea typeface="Noto Sans KR"/>
              <a:cs typeface="Noto Sans KR"/>
            </a:endParaRPr>
          </a:p>
        </p:txBody>
      </p:sp>
      <p:sp>
        <p:nvSpPr>
          <p:cNvPr id="47" name="Text 7">
            <a:extLst xmlns:a="http://schemas.openxmlformats.org/drawingml/2006/main">
              <a:ext uri="{FF2B5EF4-FFF2-40B4-BE49-F238E27FC236}">
                <a16:creationId xmlns:a16="http://schemas.microsoft.com/office/drawing/2014/main" id="{B6031EE7-0BAE-4077-B7E1-167A578D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76800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25" b="0">
                <a:solidFill>
                  <a:srgbClr val="52647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425" b="0">
                <a:solidFill>
                  <a:srgbClr val="52647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2647B"/>
                </a:solidFill>
                <a:latin typeface="Noto Sans KR"/>
                <a:ea typeface="Noto Sans KR"/>
                <a:cs typeface="Noto Sans KR"/>
              </a:rPr>
              <a:t>답변내용 작성</a:t>
            </a:r>
            <a:endParaRPr sz="1100">
              <a:solidFill>
                <a:srgbClr val="333333"/>
              </a:solidFill>
              <a:latin typeface="Noto Sans KR"/>
              <a:ea typeface="Noto Sans KR"/>
              <a:cs typeface="Noto Sans KR"/>
            </a:endParaRPr>
          </a:p>
          <a:p xmlns:a="http://schemas.openxmlformats.org/drawingml/2006/main">
            <a:pPr algn="ctr">
              <a:lnSpc>
                <a:spcPct val="112000"/>
              </a:lnSpc>
              <a:buNone/>
              <a:defRPr sz="1425" b="0">
                <a:solidFill>
                  <a:srgbClr val="52647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2647B"/>
                </a:solidFill>
                <a:latin typeface="Noto Sans KR"/>
                <a:ea typeface="Noto Sans KR"/>
                <a:cs typeface="Noto Sans KR"/>
              </a:rPr>
              <a:t>필요 시 전략 작성</a:t>
            </a:r>
            <a:endParaRPr sz="1100">
              <a:latin typeface="Noto Sans KR"/>
              <a:ea typeface="Noto Sans KR"/>
              <a:cs typeface="Noto Sans KR"/>
            </a:endParaRPr>
          </a:p>
        </p:txBody>
      </p:sp>
      <p:sp>
        <p:nvSpPr>
          <p:cNvPr id="60" name="Text 5">
            <a:extLst xmlns:a="http://schemas.openxmlformats.org/drawingml/2006/main">
              <a:ext uri="{FF2B5EF4-FFF2-40B4-BE49-F238E27FC236}">
                <a16:creationId xmlns:a16="http://schemas.microsoft.com/office/drawing/2014/main" id="{7FCABC3D-8667-4DF5-8EEB-5702ADC8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05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1">
                <a:solidFill>
                  <a:srgbClr val="005BB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marL="0" indent="0" algn="ctr">
              <a:lnSpc>
                <a:spcPct val="112000"/>
              </a:lnSpc>
              <a:buNone/>
              <a:defRPr sz="1200" b="1">
                <a:solidFill>
                  <a:srgbClr val="005BB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05BB5"/>
                </a:solidFill>
                <a:latin typeface="Noto Sans KR"/>
                <a:ea typeface="Noto Sans KR"/>
                <a:cs typeface="Noto Sans KR"/>
              </a:rPr>
              <a:t>STEP 4</a:t>
            </a:r>
            <a:endParaRPr sz="1100">
              <a:latin typeface="Noto Sans KR"/>
              <a:ea typeface="Noto Sans KR"/>
              <a:cs typeface="Noto Sans KR"/>
            </a:endParaRPr>
          </a:p>
        </p:txBody>
      </p:sp>
      <p:sp>
        <p:nvSpPr>
          <p:cNvPr id="61" name="Text 6">
            <a:extLst xmlns:a="http://schemas.openxmlformats.org/drawingml/2006/main">
              <a:ext uri="{FF2B5EF4-FFF2-40B4-BE49-F238E27FC236}">
                <a16:creationId xmlns:a16="http://schemas.microsoft.com/office/drawing/2014/main" id="{814DB4B2-1B9F-4ED2-95D6-B84D4FBDB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8625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marL="0" indent="0" algn="ctr">
              <a:lnSpc>
                <a:spcPct val="112000"/>
              </a:lnSpc>
              <a:buNone/>
              <a:defRPr sz="180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rPr>
              <a:t>고객 확인·전략 전달</a:t>
            </a:r>
            <a:endParaRPr sz="1600">
              <a:latin typeface="Noto Sans KR"/>
              <a:ea typeface="Noto Sans KR"/>
              <a:cs typeface="Noto Sans KR"/>
            </a:endParaRPr>
          </a:p>
        </p:txBody>
      </p:sp>
      <p:sp>
        <p:nvSpPr>
          <p:cNvPr id="62" name="Text 7">
            <a:extLst xmlns:a="http://schemas.openxmlformats.org/drawingml/2006/main">
              <a:ext uri="{FF2B5EF4-FFF2-40B4-BE49-F238E27FC236}">
                <a16:creationId xmlns:a16="http://schemas.microsoft.com/office/drawing/2014/main" id="{DAB9E845-B54C-44DA-94F4-03ED8DF0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76800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25" b="0">
                <a:solidFill>
                  <a:srgbClr val="52647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425" b="0">
                <a:solidFill>
                  <a:srgbClr val="52647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2647B"/>
                </a:solidFill>
                <a:latin typeface="Noto Sans KR"/>
                <a:ea typeface="Noto Sans KR"/>
                <a:cs typeface="Noto Sans KR"/>
              </a:rPr>
              <a:t>답글 확인</a:t>
            </a:r>
            <a:endParaRPr sz="1100">
              <a:solidFill>
                <a:srgbClr val="333333"/>
              </a:solidFill>
              <a:latin typeface="Noto Sans KR"/>
              <a:ea typeface="Noto Sans KR"/>
              <a:cs typeface="Noto Sans KR"/>
            </a:endParaRPr>
          </a:p>
          <a:p xmlns:a="http://schemas.openxmlformats.org/drawingml/2006/main">
            <a:pPr algn="ctr">
              <a:lnSpc>
                <a:spcPct val="112000"/>
              </a:lnSpc>
              <a:buNone/>
              <a:defRPr sz="1425" b="0">
                <a:solidFill>
                  <a:srgbClr val="52647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52647B"/>
                </a:solidFill>
                <a:latin typeface="Noto Sans KR"/>
                <a:ea typeface="Noto Sans KR"/>
                <a:cs typeface="Noto Sans KR"/>
              </a:rPr>
              <a:t>전략선물하기를 통한 전달</a:t>
            </a:r>
            <a:endParaRPr sz="1100">
              <a:latin typeface="Noto Sans KR"/>
              <a:ea typeface="Noto Sans KR"/>
              <a:cs typeface="Noto Sans KR"/>
            </a:endParaRPr>
          </a:p>
        </p:txBody>
      </p:sp>
      <p:sp>
        <p:nvSpPr>
          <p:cNvPr id="64" name="Text 26">
            <a:extLst xmlns:a="http://schemas.openxmlformats.org/drawingml/2006/main">
              <a:ext uri="{FF2B5EF4-FFF2-40B4-BE49-F238E27FC236}">
                <a16:creationId xmlns:a16="http://schemas.microsoft.com/office/drawing/2014/main" id="{2F6CFE86-1F8A-4AE5-978A-5DED0E92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38825"/>
            <a:ext cx="11049000" cy="400050"/>
          </a:xfrm>
          <a:prstGeom xmlns:a="http://schemas.openxmlformats.org/drawingml/2006/main" prst="roundRect">
            <a:avLst>
              <a:gd name="adj" fmla="val 8316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47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marL="0" indent="0" algn="l">
              <a:lnSpc>
                <a:spcPct val="112000"/>
              </a:lnSpc>
              <a:buNone/>
              <a:defRPr sz="1350" b="0">
                <a:solidFill>
                  <a:srgbClr val="52647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2647B"/>
                </a:solidFill>
                <a:latin typeface="Noto Sans KR"/>
                <a:ea typeface="Noto Sans KR"/>
                <a:cs typeface="Noto Sans KR"/>
              </a:rPr>
              <a:t>전략 전문인력이 고객의 질의와 요구사항에 대응하고, 게시판을 통해 고객 요구사항을 파악합니다.</a:t>
            </a:r>
            <a:endParaRPr sz="4000"/>
          </a:p>
        </p:txBody>
      </p:sp>
      <p:sp>
        <p:nvSpPr>
          <p:cNvPr id="65" name="Shape 8">
            <a:extLst xmlns:a="http://schemas.openxmlformats.org/drawingml/2006/main">
              <a:ext uri="{FF2B5EF4-FFF2-40B4-BE49-F238E27FC236}">
                <a16:creationId xmlns:a16="http://schemas.microsoft.com/office/drawing/2014/main" id="{40C33C38-3382-4A4C-80BC-2C79F674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133725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5AA"/>
          </a:solidFill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67" name="Shape 8">
            <a:extLst xmlns:a="http://schemas.openxmlformats.org/drawingml/2006/main">
              <a:ext uri="{FF2B5EF4-FFF2-40B4-BE49-F238E27FC236}">
                <a16:creationId xmlns:a16="http://schemas.microsoft.com/office/drawing/2014/main" id="{B0B85A54-966A-44D1-8186-C214F503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133725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5AA"/>
          </a:solidFill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pic>
        <p:nvPicPr>
          <p:cNvPr id="2" name="그림 1">
            <a:extLst xmlns:a="http://schemas.openxmlformats.org/drawingml/2006/main">
              <a:ext uri="{FF2B5EF4-FFF2-40B4-BE49-F238E27FC236}">
                <a16:creationId xmlns:a16="http://schemas.microsoft.com/office/drawing/2014/main" id="{A516981B-A62A-404B-A440-F6272954E9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95e3d1447347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71575" y="2499206"/>
            <a:ext cx="1276350" cy="1211889"/>
          </a:xfrm>
          <a:prstGeom xmlns:a="http://schemas.openxmlformats.org/drawingml/2006/main" prst="rect">
            <a:avLst/>
          </a:prstGeom>
        </p:spPr>
      </p:pic>
      <p:pic>
        <p:nvPicPr>
          <p:cNvPr id="6" name="그림 5">
            <a:extLst xmlns:a="http://schemas.openxmlformats.org/drawingml/2006/main">
              <a:ext uri="{FF2B5EF4-FFF2-40B4-BE49-F238E27FC236}">
                <a16:creationId xmlns:a16="http://schemas.microsoft.com/office/drawing/2014/main" id="{D39A2215-0864-4E68-82B1-D1D29A4818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db333abce04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29075" y="2499206"/>
            <a:ext cx="1276350" cy="1211888"/>
          </a:xfrm>
          <a:prstGeom xmlns:a="http://schemas.openxmlformats.org/drawingml/2006/main" prst="rect">
            <a:avLst/>
          </a:prstGeom>
        </p:spPr>
      </p:pic>
      <p:pic>
        <p:nvPicPr>
          <p:cNvPr id="7" name="그림 6">
            <a:extLst xmlns:a="http://schemas.openxmlformats.org/drawingml/2006/main">
              <a:ext uri="{FF2B5EF4-FFF2-40B4-BE49-F238E27FC236}">
                <a16:creationId xmlns:a16="http://schemas.microsoft.com/office/drawing/2014/main" id="{6D03D001-B289-4A15-9406-F3582D9CC5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99353dc8c44f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86575" y="2499207"/>
            <a:ext cx="1276350" cy="1211887"/>
          </a:xfrm>
          <a:prstGeom xmlns:a="http://schemas.openxmlformats.org/drawingml/2006/main" prst="rect">
            <a:avLst/>
          </a:prstGeom>
        </p:spPr>
      </p:pic>
      <p:pic>
        <p:nvPicPr>
          <p:cNvPr id="8" name="그림 7">
            <a:extLst xmlns:a="http://schemas.openxmlformats.org/drawingml/2006/main">
              <a:ext uri="{FF2B5EF4-FFF2-40B4-BE49-F238E27FC236}">
                <a16:creationId xmlns:a16="http://schemas.microsoft.com/office/drawing/2014/main" id="{39B07B3D-9D83-46BF-B0A4-2A23CE6690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b7268fcebb4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44075" y="2499206"/>
            <a:ext cx="1276350" cy="12118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87605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Image 0">
            <a:extLst xmlns:a="http://schemas.openxmlformats.org/drawingml/2006/main">
              <a:ext uri="{FF2B5EF4-FFF2-40B4-BE49-F238E27FC236}">
                <a16:creationId xmlns:a16="http://schemas.microsoft.com/office/drawing/2014/main" id="{0F778A98-3FA0-4DC4-9BBA-5F90C398A1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5ddf0330c3442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3810305" cy="6858000"/>
          </a:xfrm>
          <a:prstGeom xmlns:a="http://schemas.openxmlformats.org/drawingml/2006/main" prst="rect">
            <a:avLst/>
          </a:prstGeom>
        </p:spPr>
      </p:pic>
      <p:pic>
        <p:nvPicPr>
          <p:cNvPr id="6" name="Image 2">
            <a:extLst xmlns:a="http://schemas.openxmlformats.org/drawingml/2006/main">
              <a:ext uri="{FF2B5EF4-FFF2-40B4-BE49-F238E27FC236}">
                <a16:creationId xmlns:a16="http://schemas.microsoft.com/office/drawing/2014/main" id="{264FBFA9-9C03-4D13-A923-E316E9E2FE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569d973e8c42c9"/>
          <a:srcRect xmlns:a="http://schemas.openxmlformats.org/drawingml/2006/main" l="0" t="-420" r="0" b="-420"/>
          <a:stretch xmlns:a="http://schemas.openxmlformats.org/drawingml/2006/main"/>
        </p:blipFill>
        <p:spPr>
          <a:xfrm xmlns:a="http://schemas.openxmlformats.org/drawingml/2006/main">
            <a:off x="4762500" y="2028825"/>
            <a:ext cx="762000" cy="57150"/>
          </a:xfrm>
          <a:prstGeom xmlns:a="http://schemas.openxmlformats.org/drawingml/2006/main" prst="rect">
            <a:avLst/>
          </a:prstGeom>
        </p:spPr>
      </p:pic>
      <p:sp>
        <p:nvSpPr>
          <p:cNvPr id="9" name="Text 2">
            <a:extLst xmlns:a="http://schemas.openxmlformats.org/drawingml/2006/main">
              <a:ext uri="{FF2B5EF4-FFF2-40B4-BE49-F238E27FC236}">
                <a16:creationId xmlns:a16="http://schemas.microsoft.com/office/drawing/2014/main" id="{3F5C8171-EDD6-4257-8A18-563B1BD6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2293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9AA7B6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marL="0" indent="0" algn="r">
              <a:lnSpc>
                <a:spcPct val="112000"/>
              </a:lnSpc>
              <a:buNone/>
              <a:defRPr sz="900" b="0">
                <a:solidFill>
                  <a:srgbClr val="9AA7B6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spc="90">
                <a:solidFill>
                  <a:srgbClr val="9AA7B6"/>
                </a:solidFill>
                <a:latin typeface="Noto Sans KR"/>
                <a:ea typeface="Noto Sans KR"/>
                <a:cs typeface="Noto Sans KR"/>
              </a:rPr>
              <a:t>KOREA FINANCIAL IT</a:t>
            </a:r>
            <a:endParaRPr sz="900"/>
          </a:p>
        </p:txBody>
      </p:sp>
      <p:sp>
        <p:nvSpPr>
          <p:cNvPr id="10" name="Text 3">
            <a:extLst xmlns:a="http://schemas.openxmlformats.org/drawingml/2006/main">
              <a:ext uri="{FF2B5EF4-FFF2-40B4-BE49-F238E27FC236}">
                <a16:creationId xmlns:a16="http://schemas.microsoft.com/office/drawing/2014/main" id="{AD1F131A-E437-4858-A065-BA4397D1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marL="0" indent="0" algn="l">
              <a:lnSpc>
                <a:spcPct val="112000"/>
              </a:lnSpc>
              <a:buNone/>
              <a:defRPr sz="13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spc="45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PART</a:t>
            </a:r>
            <a:endParaRPr sz="1600"/>
          </a:p>
        </p:txBody>
      </p:sp>
      <p:sp>
        <p:nvSpPr>
          <p:cNvPr id="11" name="Text 4">
            <a:extLst xmlns:a="http://schemas.openxmlformats.org/drawingml/2006/main">
              <a:ext uri="{FF2B5EF4-FFF2-40B4-BE49-F238E27FC236}">
                <a16:creationId xmlns:a16="http://schemas.microsoft.com/office/drawing/2014/main" id="{22B9B1FB-9415-4DA4-80E0-EA8D9B74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2476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marL="0" indent="0" algn="l">
              <a:lnSpc>
                <a:spcPct val="112000"/>
              </a:lnSpc>
              <a:buNone/>
              <a:defRPr sz="82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0" b="1" spc="-15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  <a:endParaRPr sz="9000"/>
          </a:p>
        </p:txBody>
      </p:sp>
      <p:sp>
        <p:nvSpPr>
          <p:cNvPr id="12" name="Text 5">
            <a:extLst xmlns:a="http://schemas.openxmlformats.org/drawingml/2006/main">
              <a:ext uri="{FF2B5EF4-FFF2-40B4-BE49-F238E27FC236}">
                <a16:creationId xmlns:a16="http://schemas.microsoft.com/office/drawing/2014/main" id="{7AF1A5C9-56C9-4792-850A-97DACC27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43175"/>
            <a:ext cx="6667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 spc="-75">
                <a:solidFill>
                  <a:srgbClr val="07335E"/>
                </a:solidFill>
                <a:latin typeface="Noto Sans KR"/>
                <a:ea typeface="Noto Sans KR"/>
                <a:cs typeface="Noto Sans KR"/>
              </a:rPr>
              <a:t>서비스 구성 및</a:t>
            </a:r>
            <a:endParaRPr sz="3900" b="1" kern="0" spc="-75">
              <a:solidFill>
                <a:srgbClr val="002244"/>
              </a:solidFill>
              <a:latin typeface="Noto Sans KR"/>
              <a:ea typeface="Noto Sans KR"/>
              <a:cs typeface="Noto Sans KR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 spc="-75">
                <a:solidFill>
                  <a:srgbClr val="07335E"/>
                </a:solidFill>
                <a:latin typeface="Noto Sans KR"/>
                <a:ea typeface="Noto Sans KR"/>
                <a:cs typeface="Noto Sans KR"/>
              </a:rPr>
              <a:t>활용 사례</a:t>
            </a:r>
            <a:endParaRPr sz="3900" b="1" kern="0" spc="-75">
              <a:solidFill>
                <a:srgbClr val="002244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7" name="슬라이드 번호 개체 틀 6">
            <a:extLst xmlns:a="http://schemas.openxmlformats.org/drawingml/2006/main">
              <a:ext uri="{FF2B5EF4-FFF2-40B4-BE49-F238E27FC236}">
                <a16:creationId xmlns:a16="http://schemas.microsoft.com/office/drawing/2014/main" id="{2B21547B-B83F-41B9-8F8E-10036C9A0897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1049000" y="6457950"/>
            <a:ext cx="571500" cy="190500"/>
          </a:xfrm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900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900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pPr>
            <a:fld id="{718978F8-0755-43CA-83FD-9959296336B8}" type="slidenum">
              <a:rPr sz="900">
                <a:solidFill>
                  <a:srgbClr val="07335E"/>
                </a:solidFill>
                <a:latin typeface="Noto Sans KR"/>
                <a:ea typeface="Noto Sans KR"/>
                <a:cs typeface="Noto Sans KR"/>
              </a:rPr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215926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Image 0">
            <a:extLst xmlns:a="http://schemas.openxmlformats.org/drawingml/2006/main">
              <a:ext uri="{FF2B5EF4-FFF2-40B4-BE49-F238E27FC236}">
                <a16:creationId xmlns:a16="http://schemas.microsoft.com/office/drawing/2014/main" id="{EB67E86D-7129-4935-BF46-19B7AD4B6E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ac039aba594ee9"/>
          <a:srcRect xmlns:a="http://schemas.openxmlformats.org/drawingml/2006/main" l="0" t="-401" r="0" b="-401"/>
          <a:stretch xmlns:a="http://schemas.openxmlformats.org/drawingml/2006/main"/>
        </p:blipFill>
        <p:spPr>
          <a:xfrm xmlns:a="http://schemas.openxmlformats.org/drawingml/2006/main">
            <a:off x="571500" y="838200"/>
            <a:ext cx="11049000" cy="9525"/>
          </a:xfrm>
          <a:prstGeom xmlns:a="http://schemas.openxmlformats.org/drawingml/2006/main" prst="rect">
            <a:avLst/>
          </a:prstGeom>
        </p:spPr>
      </p:pic>
      <p:sp>
        <p:nvSpPr>
          <p:cNvPr id="55" name="Text 51">
            <a:extLst xmlns:a="http://schemas.openxmlformats.org/drawingml/2006/main">
              <a:ext uri="{FF2B5EF4-FFF2-40B4-BE49-F238E27FC236}">
                <a16:creationId xmlns:a16="http://schemas.microsoft.com/office/drawing/2014/main" id="{348EC907-6691-4AEE-8632-FF9A93464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67475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900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marL="0" indent="0" algn="l">
              <a:buNone/>
              <a:defRPr sz="900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rPr>
              <a:t>한국금융IT</a:t>
            </a:r>
            <a:endParaRPr sz="900"/>
          </a:p>
        </p:txBody>
      </p:sp>
      <p:sp>
        <p:nvSpPr>
          <p:cNvPr id="56" name="Text 52">
            <a:extLst xmlns:a="http://schemas.openxmlformats.org/drawingml/2006/main">
              <a:ext uri="{FF2B5EF4-FFF2-40B4-BE49-F238E27FC236}">
                <a16:creationId xmlns:a16="http://schemas.microsoft.com/office/drawing/2014/main" id="{C679FA4F-ECDA-40DB-9E16-D9820CA4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6467475"/>
            <a:ext cx="1143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900">
                <a:solidFill>
                  <a:srgbClr val="C7D1DE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marL="0" indent="0" algn="l">
              <a:buNone/>
              <a:defRPr sz="900">
                <a:solidFill>
                  <a:srgbClr val="C7D1DE"/>
                </a:solidFill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C7D1DE"/>
                </a:solidFill>
                <a:latin typeface="Noto Sans KR"/>
                <a:ea typeface="Noto Sans KR"/>
                <a:cs typeface="Noto Sans KR"/>
              </a:rPr>
              <a:t>|</a:t>
            </a:r>
            <a:endParaRPr sz="900"/>
          </a:p>
        </p:txBody>
      </p:sp>
      <p:sp>
        <p:nvSpPr>
          <p:cNvPr id="57" name="Text 53">
            <a:extLst xmlns:a="http://schemas.openxmlformats.org/drawingml/2006/main">
              <a:ext uri="{FF2B5EF4-FFF2-40B4-BE49-F238E27FC236}">
                <a16:creationId xmlns:a16="http://schemas.microsoft.com/office/drawing/2014/main" id="{5E98DABA-DD9B-4630-AE3C-34ED87A0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46747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900">
                <a:solidFill>
                  <a:srgbClr val="7B899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marL="0" indent="0" algn="l">
              <a:buNone/>
              <a:defRPr sz="900">
                <a:solidFill>
                  <a:srgbClr val="7B899B"/>
                </a:solidFill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7B899B"/>
                </a:solidFill>
                <a:latin typeface="Noto Sans KR"/>
                <a:ea typeface="Noto Sans KR"/>
                <a:cs typeface="Noto Sans KR"/>
              </a:rPr>
              <a:t>2026.10</a:t>
            </a:r>
            <a:endParaRPr sz="900"/>
          </a:p>
        </p:txBody>
      </p:sp>
      <p:sp>
        <p:nvSpPr>
          <p:cNvPr id="59" name="슬라이드 번호 개체 틀 58">
            <a:extLst xmlns:a="http://schemas.openxmlformats.org/drawingml/2006/main">
              <a:ext uri="{FF2B5EF4-FFF2-40B4-BE49-F238E27FC236}">
                <a16:creationId xmlns:a16="http://schemas.microsoft.com/office/drawing/2014/main" id="{90177802-016C-41B5-8516-C93E641EBB4D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1049000" y="6457950"/>
            <a:ext cx="571500" cy="190500"/>
          </a:xfrm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900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900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pPr>
            <a:fld id="{718978F8-0755-43CA-83FD-9959296336B8}" type="slidenum">
              <a:rPr sz="900">
                <a:solidFill>
                  <a:srgbClr val="07335E"/>
                </a:solidFill>
                <a:latin typeface="Noto Sans KR"/>
                <a:ea typeface="Noto Sans KR"/>
                <a:cs typeface="Noto Sans KR"/>
              </a:rPr>
              <a:t>11</a:t>
            </a:fld>
            <a:endParaRPr/>
          </a:p>
        </p:txBody>
      </p:sp>
      <p:pic>
        <p:nvPicPr>
          <p:cNvPr id="36" name="Image 1">
            <a:extLst xmlns:a="http://schemas.openxmlformats.org/drawingml/2006/main">
              <a:ext uri="{FF2B5EF4-FFF2-40B4-BE49-F238E27FC236}">
                <a16:creationId xmlns:a16="http://schemas.microsoft.com/office/drawing/2014/main" id="{2BD12119-5165-4058-B834-56161C78FD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7c51ebb9ad49bf"/>
          <a:srcRect xmlns:a="http://schemas.openxmlformats.org/drawingml/2006/main" l="0" t="-420" r="0" b="-420"/>
          <a:stretch xmlns:a="http://schemas.openxmlformats.org/drawingml/2006/main"/>
        </p:blipFill>
        <p:spPr>
          <a:xfrm xmlns:a="http://schemas.openxmlformats.org/drawingml/2006/main">
            <a:off x="571500" y="838200"/>
            <a:ext cx="762000" cy="19050"/>
          </a:xfrm>
          <a:prstGeom xmlns:a="http://schemas.openxmlformats.org/drawingml/2006/main" prst="rect">
            <a:avLst/>
          </a:prstGeom>
        </p:spPr>
      </p:pic>
      <p:sp>
        <p:nvSpPr>
          <p:cNvPr id="39" name="Text 20">
            <a:extLst xmlns:a="http://schemas.openxmlformats.org/drawingml/2006/main">
              <a:ext uri="{FF2B5EF4-FFF2-40B4-BE49-F238E27FC236}">
                <a16:creationId xmlns:a16="http://schemas.microsoft.com/office/drawing/2014/main" id="{02323356-AB7A-4765-A3FB-B29F3766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spc="-37">
                <a:solidFill>
                  <a:srgbClr val="07335E"/>
                </a:solidFill>
                <a:latin typeface="Noto Sans KR"/>
                <a:ea typeface="Noto Sans KR"/>
                <a:cs typeface="Noto Sans KR"/>
              </a:rPr>
              <a:t>03   서비스 구성 및 활용 사례</a:t>
            </a:r>
            <a:endParaRPr b="1" kern="0" spc="-37">
              <a:solidFill>
                <a:srgbClr val="002244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0" name="Text 22">
            <a:extLst xmlns:a="http://schemas.openxmlformats.org/drawingml/2006/main">
              <a:ext uri="{FF2B5EF4-FFF2-40B4-BE49-F238E27FC236}">
                <a16:creationId xmlns:a16="http://schemas.microsoft.com/office/drawing/2014/main" id="{EDE23097-062B-4210-BF2D-F5086309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spc="-37">
                <a:solidFill>
                  <a:srgbClr val="07335E"/>
                </a:solidFill>
                <a:latin typeface="Noto Sans KR"/>
                <a:ea typeface="Noto Sans KR"/>
                <a:cs typeface="Noto Sans KR"/>
              </a:rPr>
              <a:t>전략Q&amp;A 게시판 구성</a:t>
            </a:r>
            <a:endParaRPr sz="1600" b="1" kern="0" spc="-37">
              <a:solidFill>
                <a:srgbClr val="002244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60" name="HTS와 MTS에서 만나는 전략Q&amp;A">
            <a:extLst xmlns:a="http://schemas.openxmlformats.org/drawingml/2006/main">
              <a:ext uri="{FF2B5EF4-FFF2-40B4-BE49-F238E27FC236}">
                <a16:creationId xmlns:a16="http://schemas.microsoft.com/office/drawing/2014/main" id="{E9F0A197-0BBD-4CCD-888C-E670109C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rPr>
              <a:t>HTS와 MTS에서 만나는 전략Q&amp;A</a:t>
            </a:r>
          </a:p>
        </p:txBody>
      </p:sp>
      <p:sp>
        <p:nvSpPr>
          <p:cNvPr id="61" name="HTS  게시글 조회·검색">
            <a:extLst xmlns:a="http://schemas.openxmlformats.org/drawingml/2006/main">
              <a:ext uri="{FF2B5EF4-FFF2-40B4-BE49-F238E27FC236}">
                <a16:creationId xmlns:a16="http://schemas.microsoft.com/office/drawing/2014/main" id="{E35AFBBA-4D2B-443A-9640-AB7BD9E2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57425"/>
            <a:ext cx="809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BB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005BB5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005BB5"/>
                </a:solidFill>
                <a:latin typeface="Noto Sans KR"/>
                <a:ea typeface="Noto Sans KR"/>
                <a:cs typeface="Noto Sans KR"/>
              </a:rPr>
              <a:t>HTS  게시글 조회·검색</a:t>
            </a:r>
          </a:p>
        </p:txBody>
      </p:sp>
      <p:sp>
        <p:nvSpPr>
          <p:cNvPr id="62" name="MTS  전략Q&amp;A 게시판">
            <a:extLst xmlns:a="http://schemas.openxmlformats.org/drawingml/2006/main">
              <a:ext uri="{FF2B5EF4-FFF2-40B4-BE49-F238E27FC236}">
                <a16:creationId xmlns:a16="http://schemas.microsoft.com/office/drawing/2014/main" id="{52E83B5E-1AEF-4B92-8377-AE5908B2C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57425"/>
            <a:ext cx="2533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05BB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005BB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005BB5"/>
                </a:solidFill>
                <a:latin typeface="Noto Sans KR"/>
                <a:ea typeface="Noto Sans KR"/>
                <a:cs typeface="Noto Sans KR"/>
              </a:rPr>
              <a:t>MTS  전략Q&amp;A 게시판</a:t>
            </a:r>
          </a:p>
        </p:txBody>
      </p:sp>
      <p:sp>
        <p:nvSpPr>
          <p:cNvPr id="63" name="게시글 조회·검색, 문의 작성, 수정·삭제, FAQ 제공">
            <a:extLst xmlns:a="http://schemas.openxmlformats.org/drawingml/2006/main">
              <a:ext uri="{FF2B5EF4-FFF2-40B4-BE49-F238E27FC236}">
                <a16:creationId xmlns:a16="http://schemas.microsoft.com/office/drawing/2014/main" id="{CEE4C197-FFCD-439A-94F9-B514E3456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6267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47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47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2647B"/>
                </a:solidFill>
                <a:latin typeface="Noto Sans KR"/>
                <a:ea typeface="Noto Sans KR"/>
                <a:cs typeface="Noto Sans KR"/>
              </a:rPr>
              <a:t>게시글 조회·검색, 문의 작성, 수정·삭제, FAQ 제공</a:t>
            </a:r>
          </a:p>
        </p:txBody>
      </p:sp>
      <p:pic>
        <p:nvPicPr>
          <p:cNvPr id="64" name="HTS 전략Q&amp;A 게시판 조회 및 검색 실제 운영 화면">
            <a:extLst xmlns:a="http://schemas.openxmlformats.org/drawingml/2006/main">
              <a:ext uri="{FF2B5EF4-FFF2-40B4-BE49-F238E27FC236}">
                <a16:creationId xmlns:a16="http://schemas.microsoft.com/office/drawing/2014/main" id="{90FFDDED-0C2C-43BA-917B-362D84C4EC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5e4001d68a4708"/>
          <a:srcRect xmlns:a="http://schemas.openxmlformats.org/drawingml/2006/main" l="0" t="0" r="0" b="45372"/>
          <a:stretch xmlns:a="http://schemas.openxmlformats.org/drawingml/2006/main"/>
        </p:blipFill>
        <p:spPr>
          <a:xfrm xmlns:a="http://schemas.openxmlformats.org/drawingml/2006/main">
            <a:off x="571500" y="2699717"/>
            <a:ext cx="8096250" cy="3449290"/>
          </a:xfrm>
          <a:prstGeom xmlns:a="http://schemas.openxmlformats.org/drawingml/2006/main" prst="rect">
            <a:avLst/>
          </a:prstGeom>
        </p:spPr>
      </p:pic>
      <p:pic>
        <p:nvPicPr>
          <p:cNvPr id="65" name="MTS 전략Q&amp;A 게시판 실제 운영 화면">
            <a:extLst xmlns:a="http://schemas.openxmlformats.org/drawingml/2006/main">
              <a:ext uri="{FF2B5EF4-FFF2-40B4-BE49-F238E27FC236}">
                <a16:creationId xmlns:a16="http://schemas.microsoft.com/office/drawing/2014/main" id="{98B4B0C1-CCAD-4D18-B515-9C8F73474D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3d91153ded4dd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263729" y="2657475"/>
            <a:ext cx="2027491" cy="34956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96679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Image 0">
            <a:extLst xmlns:a="http://schemas.openxmlformats.org/drawingml/2006/main">
              <a:ext uri="{FF2B5EF4-FFF2-40B4-BE49-F238E27FC236}">
                <a16:creationId xmlns:a16="http://schemas.microsoft.com/office/drawing/2014/main" id="{D18AA184-85C0-488E-BBCE-CCD3E22C77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7ce49fcfb247b2"/>
          <a:srcRect xmlns:a="http://schemas.openxmlformats.org/drawingml/2006/main" l="0" t="-401" r="0" b="-401"/>
          <a:stretch xmlns:a="http://schemas.openxmlformats.org/drawingml/2006/main"/>
        </p:blipFill>
        <p:spPr>
          <a:xfrm xmlns:a="http://schemas.openxmlformats.org/drawingml/2006/main">
            <a:off x="571500" y="838200"/>
            <a:ext cx="11049000" cy="9525"/>
          </a:xfrm>
          <a:prstGeom xmlns:a="http://schemas.openxmlformats.org/drawingml/2006/main" prst="rect">
            <a:avLst/>
          </a:prstGeom>
        </p:spPr>
      </p:pic>
      <p:sp>
        <p:nvSpPr>
          <p:cNvPr id="55" name="Text 51">
            <a:extLst xmlns:a="http://schemas.openxmlformats.org/drawingml/2006/main">
              <a:ext uri="{FF2B5EF4-FFF2-40B4-BE49-F238E27FC236}">
                <a16:creationId xmlns:a16="http://schemas.microsoft.com/office/drawing/2014/main" id="{6FEA454A-55B1-4C7E-9829-1C13913D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67475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900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marL="0" indent="0" algn="l">
              <a:buNone/>
              <a:defRPr sz="900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rPr>
              <a:t>한국금융IT</a:t>
            </a:r>
            <a:endParaRPr sz="900"/>
          </a:p>
        </p:txBody>
      </p:sp>
      <p:sp>
        <p:nvSpPr>
          <p:cNvPr id="56" name="Text 52">
            <a:extLst xmlns:a="http://schemas.openxmlformats.org/drawingml/2006/main">
              <a:ext uri="{FF2B5EF4-FFF2-40B4-BE49-F238E27FC236}">
                <a16:creationId xmlns:a16="http://schemas.microsoft.com/office/drawing/2014/main" id="{C778876C-8660-4F12-89CF-3B5B13FF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6467475"/>
            <a:ext cx="1143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900">
                <a:solidFill>
                  <a:srgbClr val="C7D1DE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marL="0" indent="0" algn="l">
              <a:buNone/>
              <a:defRPr sz="900">
                <a:solidFill>
                  <a:srgbClr val="C7D1DE"/>
                </a:solidFill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C7D1DE"/>
                </a:solidFill>
                <a:latin typeface="Noto Sans KR"/>
                <a:ea typeface="Noto Sans KR"/>
                <a:cs typeface="Noto Sans KR"/>
              </a:rPr>
              <a:t>|</a:t>
            </a:r>
            <a:endParaRPr sz="900"/>
          </a:p>
        </p:txBody>
      </p:sp>
      <p:sp>
        <p:nvSpPr>
          <p:cNvPr id="57" name="Text 53">
            <a:extLst xmlns:a="http://schemas.openxmlformats.org/drawingml/2006/main">
              <a:ext uri="{FF2B5EF4-FFF2-40B4-BE49-F238E27FC236}">
                <a16:creationId xmlns:a16="http://schemas.microsoft.com/office/drawing/2014/main" id="{738050FB-C6CD-45DF-9740-765253AD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46747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900">
                <a:solidFill>
                  <a:srgbClr val="7B899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marL="0" indent="0" algn="l">
              <a:buNone/>
              <a:defRPr sz="900">
                <a:solidFill>
                  <a:srgbClr val="7B899B"/>
                </a:solidFill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7B899B"/>
                </a:solidFill>
                <a:latin typeface="Noto Sans KR"/>
                <a:ea typeface="Noto Sans KR"/>
                <a:cs typeface="Noto Sans KR"/>
              </a:rPr>
              <a:t>2026.10</a:t>
            </a:r>
            <a:endParaRPr sz="900"/>
          </a:p>
        </p:txBody>
      </p:sp>
      <p:sp>
        <p:nvSpPr>
          <p:cNvPr id="59" name="슬라이드 번호 개체 틀 58">
            <a:extLst xmlns:a="http://schemas.openxmlformats.org/drawingml/2006/main">
              <a:ext uri="{FF2B5EF4-FFF2-40B4-BE49-F238E27FC236}">
                <a16:creationId xmlns:a16="http://schemas.microsoft.com/office/drawing/2014/main" id="{1F1AA6EC-8962-4399-BB78-B38F8EA7C537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1049000" y="6457950"/>
            <a:ext cx="571500" cy="190500"/>
          </a:xfrm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900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900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pPr>
            <a:fld id="{718978F8-0755-43CA-83FD-9959296336B8}" type="slidenum">
              <a:rPr sz="900">
                <a:solidFill>
                  <a:srgbClr val="07335E"/>
                </a:solidFill>
                <a:latin typeface="Noto Sans KR"/>
                <a:ea typeface="Noto Sans KR"/>
                <a:cs typeface="Noto Sans KR"/>
              </a:rPr>
              <a:t>12</a:t>
            </a:fld>
            <a:endParaRPr/>
          </a:p>
        </p:txBody>
      </p:sp>
      <p:pic>
        <p:nvPicPr>
          <p:cNvPr id="36" name="Image 1">
            <a:extLst xmlns:a="http://schemas.openxmlformats.org/drawingml/2006/main">
              <a:ext uri="{FF2B5EF4-FFF2-40B4-BE49-F238E27FC236}">
                <a16:creationId xmlns:a16="http://schemas.microsoft.com/office/drawing/2014/main" id="{C2B5DE18-7169-4A69-AE82-64A92F3E5B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29769f9cef4327"/>
          <a:srcRect xmlns:a="http://schemas.openxmlformats.org/drawingml/2006/main" l="0" t="-420" r="0" b="-420"/>
          <a:stretch xmlns:a="http://schemas.openxmlformats.org/drawingml/2006/main"/>
        </p:blipFill>
        <p:spPr>
          <a:xfrm xmlns:a="http://schemas.openxmlformats.org/drawingml/2006/main">
            <a:off x="571500" y="838200"/>
            <a:ext cx="762000" cy="19050"/>
          </a:xfrm>
          <a:prstGeom xmlns:a="http://schemas.openxmlformats.org/drawingml/2006/main" prst="rect">
            <a:avLst/>
          </a:prstGeom>
        </p:spPr>
      </p:pic>
      <p:sp>
        <p:nvSpPr>
          <p:cNvPr id="39" name="Text 20">
            <a:extLst xmlns:a="http://schemas.openxmlformats.org/drawingml/2006/main">
              <a:ext uri="{FF2B5EF4-FFF2-40B4-BE49-F238E27FC236}">
                <a16:creationId xmlns:a16="http://schemas.microsoft.com/office/drawing/2014/main" id="{81A159B4-072E-4111-B180-90092232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spc="-37">
                <a:solidFill>
                  <a:srgbClr val="07335E"/>
                </a:solidFill>
                <a:latin typeface="Noto Sans KR"/>
                <a:ea typeface="Noto Sans KR"/>
                <a:cs typeface="Noto Sans KR"/>
              </a:rPr>
              <a:t>03   서비스 구성 및 활용 사례</a:t>
            </a:r>
            <a:endParaRPr b="1" kern="0" spc="-37">
              <a:solidFill>
                <a:srgbClr val="002244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0" name="Text 22">
            <a:extLst xmlns:a="http://schemas.openxmlformats.org/drawingml/2006/main">
              <a:ext uri="{FF2B5EF4-FFF2-40B4-BE49-F238E27FC236}">
                <a16:creationId xmlns:a16="http://schemas.microsoft.com/office/drawing/2014/main" id="{C5549721-B4CF-428F-8349-ADAF776D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spc="-37">
                <a:solidFill>
                  <a:srgbClr val="07335E"/>
                </a:solidFill>
                <a:latin typeface="Noto Sans KR"/>
                <a:ea typeface="Noto Sans KR"/>
                <a:cs typeface="Noto Sans KR"/>
              </a:rPr>
              <a:t>활용 사례  전략의뢰</a:t>
            </a:r>
            <a:endParaRPr sz="1600" b="1" kern="0" spc="-37">
              <a:solidFill>
                <a:srgbClr val="002244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60" name="고객의 요청 조건이 실제 전략으로 이어집니다">
            <a:extLst xmlns:a="http://schemas.openxmlformats.org/drawingml/2006/main">
              <a:ext uri="{FF2B5EF4-FFF2-40B4-BE49-F238E27FC236}">
                <a16:creationId xmlns:a16="http://schemas.microsoft.com/office/drawing/2014/main" id="{908ECD1E-7BBD-4EE3-ACB1-2D2D2D0BB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rPr>
              <a:t>고객의 요청 조건이 실제 전략으로 이어집니다</a:t>
            </a:r>
          </a:p>
        </p:txBody>
      </p:sp>
      <p:sp>
        <p:nvSpPr>
          <p:cNvPr id="61" name="01  고객의 전략의뢰">
            <a:extLst xmlns:a="http://schemas.openxmlformats.org/drawingml/2006/main">
              <a:ext uri="{FF2B5EF4-FFF2-40B4-BE49-F238E27FC236}">
                <a16:creationId xmlns:a16="http://schemas.microsoft.com/office/drawing/2014/main" id="{72BA458E-8263-4990-AA76-4866ABC39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574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BB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005BB5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005BB5"/>
                </a:solidFill>
                <a:latin typeface="Noto Sans KR"/>
                <a:ea typeface="Noto Sans KR"/>
                <a:cs typeface="Noto Sans KR"/>
              </a:rPr>
              <a:t>01  고객의 전략의뢰</a:t>
            </a:r>
          </a:p>
        </p:txBody>
      </p:sp>
      <p:sp>
        <p:nvSpPr>
          <p:cNvPr id="62" name="02  요청 조건 분석·전략 작성">
            <a:extLst xmlns:a="http://schemas.openxmlformats.org/drawingml/2006/main">
              <a:ext uri="{FF2B5EF4-FFF2-40B4-BE49-F238E27FC236}">
                <a16:creationId xmlns:a16="http://schemas.microsoft.com/office/drawing/2014/main" id="{51C017E1-79C5-45CC-BA6C-B9EE5BEA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053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BB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005BB5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005BB5"/>
                </a:solidFill>
                <a:latin typeface="Noto Sans KR"/>
                <a:ea typeface="Noto Sans KR"/>
                <a:cs typeface="Noto Sans KR"/>
              </a:rPr>
              <a:t>02  요청 조건 분석·전략 작성</a:t>
            </a:r>
          </a:p>
        </p:txBody>
      </p:sp>
      <p:sp>
        <p:nvSpPr>
          <p:cNvPr id="63" name="03  전문인력의 답변">
            <a:extLst xmlns:a="http://schemas.openxmlformats.org/drawingml/2006/main">
              <a:ext uri="{FF2B5EF4-FFF2-40B4-BE49-F238E27FC236}">
                <a16:creationId xmlns:a16="http://schemas.microsoft.com/office/drawing/2014/main" id="{294F5A8A-794E-4214-8FE2-35E5264D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57425"/>
            <a:ext cx="552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BB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005BB5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005BB5"/>
                </a:solidFill>
                <a:latin typeface="Noto Sans KR"/>
                <a:ea typeface="Noto Sans KR"/>
                <a:cs typeface="Noto Sans KR"/>
              </a:rPr>
              <a:t>03  전문인력의 답변</a:t>
            </a:r>
          </a:p>
        </p:txBody>
      </p:sp>
      <p:sp>
        <p:nvSpPr>
          <p:cNvPr id="64" name="04  전략선물 요청 시 고객에게 전달">
            <a:extLst xmlns:a="http://schemas.openxmlformats.org/drawingml/2006/main">
              <a:ext uri="{FF2B5EF4-FFF2-40B4-BE49-F238E27FC236}">
                <a16:creationId xmlns:a16="http://schemas.microsoft.com/office/drawing/2014/main" id="{9174C0E3-9EEC-4CFF-B836-BD834023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972175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5BB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05BB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005BB5"/>
                </a:solidFill>
                <a:latin typeface="Noto Sans KR"/>
                <a:ea typeface="Noto Sans KR"/>
                <a:cs typeface="Noto Sans KR"/>
              </a:rPr>
              <a:t>04  전략선물 요청 시 고객에게 전달</a:t>
            </a:r>
          </a:p>
        </p:txBody>
      </p:sp>
      <p:pic>
        <p:nvPicPr>
          <p:cNvPr id="65" name="실제 고객의 전략의뢰 게시글">
            <a:extLst xmlns:a="http://schemas.openxmlformats.org/drawingml/2006/main">
              <a:ext uri="{FF2B5EF4-FFF2-40B4-BE49-F238E27FC236}">
                <a16:creationId xmlns:a16="http://schemas.microsoft.com/office/drawing/2014/main" id="{97188935-124F-4766-88EF-BCB60E77B5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18faa7a76f4a7e"/>
          <a:srcRect xmlns:a="http://schemas.openxmlformats.org/drawingml/2006/main" l="6667" t="16806" r="34167" b="56528"/>
          <a:stretch xmlns:a="http://schemas.openxmlformats.org/drawingml/2006/main"/>
        </p:blipFill>
        <p:spPr>
          <a:xfrm xmlns:a="http://schemas.openxmlformats.org/drawingml/2006/main">
            <a:off x="571500" y="2697789"/>
            <a:ext cx="5143500" cy="1738648"/>
          </a:xfrm>
          <a:prstGeom xmlns:a="http://schemas.openxmlformats.org/drawingml/2006/main" prst="rect">
            <a:avLst/>
          </a:prstGeom>
        </p:spPr>
      </p:pic>
      <p:pic>
        <p:nvPicPr>
          <p:cNvPr id="66" name="고객 요청 조건을 분석하고 구성한 실제 전략 화면">
            <a:extLst xmlns:a="http://schemas.openxmlformats.org/drawingml/2006/main">
              <a:ext uri="{FF2B5EF4-FFF2-40B4-BE49-F238E27FC236}">
                <a16:creationId xmlns:a16="http://schemas.microsoft.com/office/drawing/2014/main" id="{BF67FDD0-D941-4310-9C54-C5E53DAE25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27d0f4b467446f"/>
          <a:srcRect xmlns:a="http://schemas.openxmlformats.org/drawingml/2006/main" l="21526" t="5136" r="196" b="54735"/>
          <a:stretch xmlns:a="http://schemas.openxmlformats.org/drawingml/2006/main"/>
        </p:blipFill>
        <p:spPr>
          <a:xfrm xmlns:a="http://schemas.openxmlformats.org/drawingml/2006/main">
            <a:off x="963930" y="4933950"/>
            <a:ext cx="4358640" cy="1362075"/>
          </a:xfrm>
          <a:prstGeom xmlns:a="http://schemas.openxmlformats.org/drawingml/2006/main" prst="rect">
            <a:avLst/>
          </a:prstGeom>
        </p:spPr>
      </p:pic>
      <p:pic>
        <p:nvPicPr>
          <p:cNvPr id="67" name="전략 전문인력이 작성한 실제 전략의뢰 답변">
            <a:extLst xmlns:a="http://schemas.openxmlformats.org/drawingml/2006/main">
              <a:ext uri="{FF2B5EF4-FFF2-40B4-BE49-F238E27FC236}">
                <a16:creationId xmlns:a16="http://schemas.microsoft.com/office/drawing/2014/main" id="{673CD7D6-10C6-4988-9C30-504753D6F6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3a0526a8c8481a"/>
          <a:srcRect xmlns:a="http://schemas.openxmlformats.org/drawingml/2006/main" l="6667" t="47222" r="34167" b="7917"/>
          <a:stretch xmlns:a="http://schemas.openxmlformats.org/drawingml/2006/main"/>
        </p:blipFill>
        <p:spPr>
          <a:xfrm xmlns:a="http://schemas.openxmlformats.org/drawingml/2006/main">
            <a:off x="6096000" y="2696414"/>
            <a:ext cx="5524500" cy="314157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35437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Image 0">
            <a:extLst xmlns:a="http://schemas.openxmlformats.org/drawingml/2006/main">
              <a:ext uri="{FF2B5EF4-FFF2-40B4-BE49-F238E27FC236}">
                <a16:creationId xmlns:a16="http://schemas.microsoft.com/office/drawing/2014/main" id="{A1C0EB8A-3386-4C1E-A30E-26F05AB9AB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27b43b6c9d4da8"/>
          <a:srcRect xmlns:a="http://schemas.openxmlformats.org/drawingml/2006/main" l="0" t="-401" r="0" b="-401"/>
          <a:stretch xmlns:a="http://schemas.openxmlformats.org/drawingml/2006/main"/>
        </p:blipFill>
        <p:spPr>
          <a:xfrm xmlns:a="http://schemas.openxmlformats.org/drawingml/2006/main">
            <a:off x="571500" y="838200"/>
            <a:ext cx="11049000" cy="9525"/>
          </a:xfrm>
          <a:prstGeom xmlns:a="http://schemas.openxmlformats.org/drawingml/2006/main" prst="rect">
            <a:avLst/>
          </a:prstGeom>
        </p:spPr>
      </p:pic>
      <p:sp>
        <p:nvSpPr>
          <p:cNvPr id="55" name="Text 51">
            <a:extLst xmlns:a="http://schemas.openxmlformats.org/drawingml/2006/main">
              <a:ext uri="{FF2B5EF4-FFF2-40B4-BE49-F238E27FC236}">
                <a16:creationId xmlns:a16="http://schemas.microsoft.com/office/drawing/2014/main" id="{EE2554B4-F5FE-428A-8248-E9353B67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67475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900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marL="0" indent="0" algn="l">
              <a:buNone/>
              <a:defRPr sz="900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rPr>
              <a:t>한국금융IT</a:t>
            </a:r>
            <a:endParaRPr sz="900"/>
          </a:p>
        </p:txBody>
      </p:sp>
      <p:sp>
        <p:nvSpPr>
          <p:cNvPr id="56" name="Text 52">
            <a:extLst xmlns:a="http://schemas.openxmlformats.org/drawingml/2006/main">
              <a:ext uri="{FF2B5EF4-FFF2-40B4-BE49-F238E27FC236}">
                <a16:creationId xmlns:a16="http://schemas.microsoft.com/office/drawing/2014/main" id="{1D161327-DAD6-4B14-9C43-8A2E4E5E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6467475"/>
            <a:ext cx="1143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900">
                <a:solidFill>
                  <a:srgbClr val="C7D1DE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marL="0" indent="0" algn="l">
              <a:buNone/>
              <a:defRPr sz="900">
                <a:solidFill>
                  <a:srgbClr val="C7D1DE"/>
                </a:solidFill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C7D1DE"/>
                </a:solidFill>
                <a:latin typeface="Noto Sans KR"/>
                <a:ea typeface="Noto Sans KR"/>
                <a:cs typeface="Noto Sans KR"/>
              </a:rPr>
              <a:t>|</a:t>
            </a:r>
            <a:endParaRPr sz="900"/>
          </a:p>
        </p:txBody>
      </p:sp>
      <p:sp>
        <p:nvSpPr>
          <p:cNvPr id="57" name="Text 53">
            <a:extLst xmlns:a="http://schemas.openxmlformats.org/drawingml/2006/main">
              <a:ext uri="{FF2B5EF4-FFF2-40B4-BE49-F238E27FC236}">
                <a16:creationId xmlns:a16="http://schemas.microsoft.com/office/drawing/2014/main" id="{1DA75FEF-82DE-4A52-9408-F11990C6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46747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900">
                <a:solidFill>
                  <a:srgbClr val="7B899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marL="0" indent="0" algn="l">
              <a:buNone/>
              <a:defRPr sz="900">
                <a:solidFill>
                  <a:srgbClr val="7B899B"/>
                </a:solidFill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7B899B"/>
                </a:solidFill>
                <a:latin typeface="Noto Sans KR"/>
                <a:ea typeface="Noto Sans KR"/>
                <a:cs typeface="Noto Sans KR"/>
              </a:rPr>
              <a:t>2026.10</a:t>
            </a:r>
            <a:endParaRPr sz="900"/>
          </a:p>
        </p:txBody>
      </p:sp>
      <p:sp>
        <p:nvSpPr>
          <p:cNvPr id="59" name="슬라이드 번호 개체 틀 58">
            <a:extLst xmlns:a="http://schemas.openxmlformats.org/drawingml/2006/main">
              <a:ext uri="{FF2B5EF4-FFF2-40B4-BE49-F238E27FC236}">
                <a16:creationId xmlns:a16="http://schemas.microsoft.com/office/drawing/2014/main" id="{06FF3586-E142-4A65-9F06-FA5D55E7D7AA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1049000" y="6457950"/>
            <a:ext cx="571500" cy="190500"/>
          </a:xfrm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900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900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pPr>
            <a:fld id="{718978F8-0755-43CA-83FD-9959296336B8}" type="slidenum">
              <a:rPr sz="900">
                <a:solidFill>
                  <a:srgbClr val="07335E"/>
                </a:solidFill>
                <a:latin typeface="Noto Sans KR"/>
                <a:ea typeface="Noto Sans KR"/>
                <a:cs typeface="Noto Sans KR"/>
              </a:rPr>
              <a:t>13</a:t>
            </a:fld>
            <a:endParaRPr/>
          </a:p>
        </p:txBody>
      </p:sp>
      <p:pic>
        <p:nvPicPr>
          <p:cNvPr id="36" name="Image 1">
            <a:extLst xmlns:a="http://schemas.openxmlformats.org/drawingml/2006/main">
              <a:ext uri="{FF2B5EF4-FFF2-40B4-BE49-F238E27FC236}">
                <a16:creationId xmlns:a16="http://schemas.microsoft.com/office/drawing/2014/main" id="{F3D8C007-6D52-4A03-BAE8-FC621627E2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f146edbaeb4f1d"/>
          <a:srcRect xmlns:a="http://schemas.openxmlformats.org/drawingml/2006/main" l="0" t="-420" r="0" b="-420"/>
          <a:stretch xmlns:a="http://schemas.openxmlformats.org/drawingml/2006/main"/>
        </p:blipFill>
        <p:spPr>
          <a:xfrm xmlns:a="http://schemas.openxmlformats.org/drawingml/2006/main">
            <a:off x="571500" y="838200"/>
            <a:ext cx="762000" cy="19050"/>
          </a:xfrm>
          <a:prstGeom xmlns:a="http://schemas.openxmlformats.org/drawingml/2006/main" prst="rect">
            <a:avLst/>
          </a:prstGeom>
        </p:spPr>
      </p:pic>
      <p:sp>
        <p:nvSpPr>
          <p:cNvPr id="39" name="Text 20">
            <a:extLst xmlns:a="http://schemas.openxmlformats.org/drawingml/2006/main">
              <a:ext uri="{FF2B5EF4-FFF2-40B4-BE49-F238E27FC236}">
                <a16:creationId xmlns:a16="http://schemas.microsoft.com/office/drawing/2014/main" id="{47EB24D5-8248-4389-A640-64F51708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spc="-37">
                <a:solidFill>
                  <a:srgbClr val="07335E"/>
                </a:solidFill>
                <a:latin typeface="Noto Sans KR"/>
                <a:ea typeface="Noto Sans KR"/>
                <a:cs typeface="Noto Sans KR"/>
              </a:rPr>
              <a:t>03   서비스 구성 및 활용 사례</a:t>
            </a:r>
            <a:endParaRPr b="1" kern="0" spc="-37">
              <a:solidFill>
                <a:srgbClr val="002244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0" name="Text 22">
            <a:extLst xmlns:a="http://schemas.openxmlformats.org/drawingml/2006/main">
              <a:ext uri="{FF2B5EF4-FFF2-40B4-BE49-F238E27FC236}">
                <a16:creationId xmlns:a16="http://schemas.microsoft.com/office/drawing/2014/main" id="{B205F9F7-BF4D-4CCC-AEAB-3D30C571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spc="-37">
                <a:solidFill>
                  <a:srgbClr val="07335E"/>
                </a:solidFill>
                <a:latin typeface="Noto Sans KR"/>
                <a:ea typeface="Noto Sans KR"/>
                <a:cs typeface="Noto Sans KR"/>
              </a:rPr>
              <a:t>활용 사례  사용문의</a:t>
            </a:r>
            <a:endParaRPr sz="1600" b="1" kern="0" spc="-37">
              <a:solidFill>
                <a:srgbClr val="002244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60" name="사용 중 생긴 질문을 실제 설정 화면으로 해결합니다">
            <a:extLst xmlns:a="http://schemas.openxmlformats.org/drawingml/2006/main">
              <a:ext uri="{FF2B5EF4-FFF2-40B4-BE49-F238E27FC236}">
                <a16:creationId xmlns:a16="http://schemas.microsoft.com/office/drawing/2014/main" id="{290E8FB0-B6F8-40D2-8D82-57AC39DF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rPr>
              <a:t>사용 중 생긴 질문을 실제 설정 화면으로 해결합니다</a:t>
            </a:r>
          </a:p>
        </p:txBody>
      </p:sp>
      <p:sp>
        <p:nvSpPr>
          <p:cNvPr id="61" name="01  고객의 사용문의">
            <a:extLst xmlns:a="http://schemas.openxmlformats.org/drawingml/2006/main">
              <a:ext uri="{FF2B5EF4-FFF2-40B4-BE49-F238E27FC236}">
                <a16:creationId xmlns:a16="http://schemas.microsoft.com/office/drawing/2014/main" id="{F59AB807-10C8-42E1-8D61-D9044BA1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574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BB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005BB5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005BB5"/>
                </a:solidFill>
                <a:latin typeface="Noto Sans KR"/>
                <a:ea typeface="Noto Sans KR"/>
                <a:cs typeface="Noto Sans KR"/>
              </a:rPr>
              <a:t>01  고객의 사용문의</a:t>
            </a:r>
          </a:p>
        </p:txBody>
      </p:sp>
      <p:sp>
        <p:nvSpPr>
          <p:cNvPr id="62" name="02  사용 상황·설정 확인">
            <a:extLst xmlns:a="http://schemas.openxmlformats.org/drawingml/2006/main">
              <a:ext uri="{FF2B5EF4-FFF2-40B4-BE49-F238E27FC236}">
                <a16:creationId xmlns:a16="http://schemas.microsoft.com/office/drawing/2014/main" id="{65B395B8-B696-47E4-AB7D-DDCF05CC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053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BB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005BB5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005BB5"/>
                </a:solidFill>
                <a:latin typeface="Noto Sans KR"/>
                <a:ea typeface="Noto Sans KR"/>
                <a:cs typeface="Noto Sans KR"/>
              </a:rPr>
              <a:t>02  사용 상황·설정 확인</a:t>
            </a:r>
          </a:p>
        </p:txBody>
      </p:sp>
      <p:sp>
        <p:nvSpPr>
          <p:cNvPr id="63" name="03  사용방법 답변">
            <a:extLst xmlns:a="http://schemas.openxmlformats.org/drawingml/2006/main">
              <a:ext uri="{FF2B5EF4-FFF2-40B4-BE49-F238E27FC236}">
                <a16:creationId xmlns:a16="http://schemas.microsoft.com/office/drawing/2014/main" id="{64DB68D9-0EC0-4677-A2FC-57D31256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57425"/>
            <a:ext cx="552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BB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005BB5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005BB5"/>
                </a:solidFill>
                <a:latin typeface="Noto Sans KR"/>
                <a:ea typeface="Noto Sans KR"/>
                <a:cs typeface="Noto Sans KR"/>
              </a:rPr>
              <a:t>03  사용방법 답변</a:t>
            </a:r>
          </a:p>
        </p:txBody>
      </p:sp>
      <p:sp>
        <p:nvSpPr>
          <p:cNvPr id="64" name="문의 내용과 사용 상황을 확인해 구체적인 방법을 안내합니다.">
            <a:extLst xmlns:a="http://schemas.openxmlformats.org/drawingml/2006/main">
              <a:ext uri="{FF2B5EF4-FFF2-40B4-BE49-F238E27FC236}">
                <a16:creationId xmlns:a16="http://schemas.microsoft.com/office/drawing/2014/main" id="{94E2DEF8-07E4-4268-9B8B-10CDC479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972175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47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47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2647B"/>
                </a:solidFill>
                <a:latin typeface="Noto Sans KR"/>
                <a:ea typeface="Noto Sans KR"/>
                <a:cs typeface="Noto Sans KR"/>
              </a:rPr>
              <a:t>문의 내용과 사용 상황을 확인해 구체적인 방법을 안내합니다.</a:t>
            </a:r>
          </a:p>
        </p:txBody>
      </p:sp>
      <p:pic>
        <p:nvPicPr>
          <p:cNvPr id="65" name="실제 고객이 등록한 조건검색 사용문의">
            <a:extLst xmlns:a="http://schemas.openxmlformats.org/drawingml/2006/main">
              <a:ext uri="{FF2B5EF4-FFF2-40B4-BE49-F238E27FC236}">
                <a16:creationId xmlns:a16="http://schemas.microsoft.com/office/drawing/2014/main" id="{3418C523-FFDA-4BA4-B857-30F3EE1FE8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37542fcc024c76"/>
          <a:srcRect xmlns:a="http://schemas.openxmlformats.org/drawingml/2006/main" l="5521" t="17639" r="33438" b="59028"/>
          <a:stretch xmlns:a="http://schemas.openxmlformats.org/drawingml/2006/main"/>
        </p:blipFill>
        <p:spPr>
          <a:xfrm xmlns:a="http://schemas.openxmlformats.org/drawingml/2006/main">
            <a:off x="571500" y="2829819"/>
            <a:ext cx="5143500" cy="1474587"/>
          </a:xfrm>
          <a:prstGeom xmlns:a="http://schemas.openxmlformats.org/drawingml/2006/main" prst="rect">
            <a:avLst/>
          </a:prstGeom>
        </p:spPr>
      </p:pic>
      <p:pic>
        <p:nvPicPr>
          <p:cNvPr id="66" name="사용문의에 해당하는 실제 조건검색 설정 화면">
            <a:extLst xmlns:a="http://schemas.openxmlformats.org/drawingml/2006/main">
              <a:ext uri="{FF2B5EF4-FFF2-40B4-BE49-F238E27FC236}">
                <a16:creationId xmlns:a16="http://schemas.microsoft.com/office/drawing/2014/main" id="{CBA5423E-39DF-4907-8EBA-BEBC4E2C5B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5cceaef3b0445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28132" y="4933950"/>
            <a:ext cx="5030237" cy="1362075"/>
          </a:xfrm>
          <a:prstGeom xmlns:a="http://schemas.openxmlformats.org/drawingml/2006/main" prst="rect">
            <a:avLst/>
          </a:prstGeom>
        </p:spPr>
      </p:pic>
      <p:pic>
        <p:nvPicPr>
          <p:cNvPr id="67" name="조건검색 사용법과 설정 방법을 설명한 실제 답변">
            <a:extLst xmlns:a="http://schemas.openxmlformats.org/drawingml/2006/main">
              <a:ext uri="{FF2B5EF4-FFF2-40B4-BE49-F238E27FC236}">
                <a16:creationId xmlns:a16="http://schemas.microsoft.com/office/drawing/2014/main" id="{0FAC3F65-0767-4CE8-AA26-971544677A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47862fb7f84ad0"/>
          <a:srcRect xmlns:a="http://schemas.openxmlformats.org/drawingml/2006/main" l="5521" t="48472" r="33438" b="8056"/>
          <a:stretch xmlns:a="http://schemas.openxmlformats.org/drawingml/2006/main"/>
        </p:blipFill>
        <p:spPr>
          <a:xfrm xmlns:a="http://schemas.openxmlformats.org/drawingml/2006/main">
            <a:off x="6096000" y="2791800"/>
            <a:ext cx="5524500" cy="2950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14220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Image 0">
            <a:extLst xmlns:a="http://schemas.openxmlformats.org/drawingml/2006/main">
              <a:ext uri="{FF2B5EF4-FFF2-40B4-BE49-F238E27FC236}">
                <a16:creationId xmlns:a16="http://schemas.microsoft.com/office/drawing/2014/main" id="{5F3FA8CC-BEB1-409D-87BB-7C9608D1E4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407cdbdd9d4dbf"/>
          <a:srcRect xmlns:a="http://schemas.openxmlformats.org/drawingml/2006/main" l="0" t="-401" r="0" b="-401"/>
          <a:stretch xmlns:a="http://schemas.openxmlformats.org/drawingml/2006/main"/>
        </p:blipFill>
        <p:spPr>
          <a:xfrm xmlns:a="http://schemas.openxmlformats.org/drawingml/2006/main">
            <a:off x="571500" y="838200"/>
            <a:ext cx="11049000" cy="9525"/>
          </a:xfrm>
          <a:prstGeom xmlns:a="http://schemas.openxmlformats.org/drawingml/2006/main" prst="rect">
            <a:avLst/>
          </a:prstGeom>
        </p:spPr>
      </p:pic>
      <p:sp>
        <p:nvSpPr>
          <p:cNvPr id="55" name="Text 51">
            <a:extLst xmlns:a="http://schemas.openxmlformats.org/drawingml/2006/main">
              <a:ext uri="{FF2B5EF4-FFF2-40B4-BE49-F238E27FC236}">
                <a16:creationId xmlns:a16="http://schemas.microsoft.com/office/drawing/2014/main" id="{F65E4A81-3146-4288-B72F-18D2171B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67475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900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marL="0" indent="0" algn="l">
              <a:buNone/>
              <a:defRPr sz="900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rPr>
              <a:t>한국금융IT</a:t>
            </a:r>
            <a:endParaRPr sz="900"/>
          </a:p>
        </p:txBody>
      </p:sp>
      <p:sp>
        <p:nvSpPr>
          <p:cNvPr id="56" name="Text 52">
            <a:extLst xmlns:a="http://schemas.openxmlformats.org/drawingml/2006/main">
              <a:ext uri="{FF2B5EF4-FFF2-40B4-BE49-F238E27FC236}">
                <a16:creationId xmlns:a16="http://schemas.microsoft.com/office/drawing/2014/main" id="{57628C1B-B120-4C1E-B9B1-3E5A6621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6467475"/>
            <a:ext cx="1143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900">
                <a:solidFill>
                  <a:srgbClr val="C7D1DE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marL="0" indent="0" algn="l">
              <a:buNone/>
              <a:defRPr sz="900">
                <a:solidFill>
                  <a:srgbClr val="C7D1DE"/>
                </a:solidFill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C7D1DE"/>
                </a:solidFill>
                <a:latin typeface="Noto Sans KR"/>
                <a:ea typeface="Noto Sans KR"/>
                <a:cs typeface="Noto Sans KR"/>
              </a:rPr>
              <a:t>|</a:t>
            </a:r>
            <a:endParaRPr sz="900"/>
          </a:p>
        </p:txBody>
      </p:sp>
      <p:sp>
        <p:nvSpPr>
          <p:cNvPr id="57" name="Text 53">
            <a:extLst xmlns:a="http://schemas.openxmlformats.org/drawingml/2006/main">
              <a:ext uri="{FF2B5EF4-FFF2-40B4-BE49-F238E27FC236}">
                <a16:creationId xmlns:a16="http://schemas.microsoft.com/office/drawing/2014/main" id="{6BAAEFB3-DEAD-4831-A1C0-751DAF58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46747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900">
                <a:solidFill>
                  <a:srgbClr val="7B899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marL="0" indent="0" algn="l">
              <a:buNone/>
              <a:defRPr sz="900">
                <a:solidFill>
                  <a:srgbClr val="7B899B"/>
                </a:solidFill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7B899B"/>
                </a:solidFill>
                <a:latin typeface="Noto Sans KR"/>
                <a:ea typeface="Noto Sans KR"/>
                <a:cs typeface="Noto Sans KR"/>
              </a:rPr>
              <a:t>2026.10</a:t>
            </a:r>
            <a:endParaRPr sz="900"/>
          </a:p>
        </p:txBody>
      </p:sp>
      <p:sp>
        <p:nvSpPr>
          <p:cNvPr id="59" name="슬라이드 번호 개체 틀 58">
            <a:extLst xmlns:a="http://schemas.openxmlformats.org/drawingml/2006/main">
              <a:ext uri="{FF2B5EF4-FFF2-40B4-BE49-F238E27FC236}">
                <a16:creationId xmlns:a16="http://schemas.microsoft.com/office/drawing/2014/main" id="{C1AF3915-A568-4F01-8785-1B17F45ACBE9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>
          <a:xfrm xmlns:a="http://schemas.openxmlformats.org/drawingml/2006/main">
            <a:off x="11049000" y="6457950"/>
            <a:ext cx="571500" cy="190500"/>
          </a:xfrm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900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defRPr sz="900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pPr>
            <a:fld id="{718978F8-0755-43CA-83FD-9959296336B8}" type="slidenum">
              <a:rPr sz="900">
                <a:solidFill>
                  <a:srgbClr val="07335E"/>
                </a:solidFill>
                <a:latin typeface="Noto Sans KR"/>
                <a:ea typeface="Noto Sans KR"/>
                <a:cs typeface="Noto Sans KR"/>
              </a:rPr>
              <a:t>14</a:t>
            </a:fld>
            <a:endParaRPr/>
          </a:p>
        </p:txBody>
      </p:sp>
      <p:pic>
        <p:nvPicPr>
          <p:cNvPr id="36" name="Image 1">
            <a:extLst xmlns:a="http://schemas.openxmlformats.org/drawingml/2006/main">
              <a:ext uri="{FF2B5EF4-FFF2-40B4-BE49-F238E27FC236}">
                <a16:creationId xmlns:a16="http://schemas.microsoft.com/office/drawing/2014/main" id="{0B3F2EE2-A2C3-4521-BB95-52317B013D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330c1292564f1c"/>
          <a:srcRect xmlns:a="http://schemas.openxmlformats.org/drawingml/2006/main" l="0" t="-420" r="0" b="-420"/>
          <a:stretch xmlns:a="http://schemas.openxmlformats.org/drawingml/2006/main"/>
        </p:blipFill>
        <p:spPr>
          <a:xfrm xmlns:a="http://schemas.openxmlformats.org/drawingml/2006/main">
            <a:off x="571500" y="838200"/>
            <a:ext cx="762000" cy="19050"/>
          </a:xfrm>
          <a:prstGeom xmlns:a="http://schemas.openxmlformats.org/drawingml/2006/main" prst="rect">
            <a:avLst/>
          </a:prstGeom>
        </p:spPr>
      </p:pic>
      <p:sp>
        <p:nvSpPr>
          <p:cNvPr id="39" name="Text 20">
            <a:extLst xmlns:a="http://schemas.openxmlformats.org/drawingml/2006/main">
              <a:ext uri="{FF2B5EF4-FFF2-40B4-BE49-F238E27FC236}">
                <a16:creationId xmlns:a16="http://schemas.microsoft.com/office/drawing/2014/main" id="{593D5BA4-E6AB-4532-BCE1-35CA6AD69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spc="-37">
                <a:solidFill>
                  <a:srgbClr val="07335E"/>
                </a:solidFill>
                <a:latin typeface="Noto Sans KR"/>
                <a:ea typeface="Noto Sans KR"/>
                <a:cs typeface="Noto Sans KR"/>
              </a:rPr>
              <a:t>03   서비스 구성 및 활용 사례</a:t>
            </a:r>
            <a:endParaRPr b="1" kern="0" spc="-37">
              <a:solidFill>
                <a:srgbClr val="002244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0" name="Text 22">
            <a:extLst xmlns:a="http://schemas.openxmlformats.org/drawingml/2006/main">
              <a:ext uri="{FF2B5EF4-FFF2-40B4-BE49-F238E27FC236}">
                <a16:creationId xmlns:a16="http://schemas.microsoft.com/office/drawing/2014/main" id="{A031E0FC-B928-4821-A536-6713D74E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spc="-37">
                <a:solidFill>
                  <a:srgbClr val="07335E"/>
                </a:solidFill>
                <a:latin typeface="Noto Sans KR"/>
                <a:ea typeface="Noto Sans KR"/>
                <a:cs typeface="Noto Sans KR"/>
              </a:rPr>
              <a:t>활용 사례  전략FAQ</a:t>
            </a:r>
            <a:endParaRPr sz="1600" b="1" kern="0" spc="-37">
              <a:solidFill>
                <a:srgbClr val="002244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60" name="자주 묻는 질문과 전략 활용법을 화면으로 안내합니다">
            <a:extLst xmlns:a="http://schemas.openxmlformats.org/drawingml/2006/main">
              <a:ext uri="{FF2B5EF4-FFF2-40B4-BE49-F238E27FC236}">
                <a16:creationId xmlns:a16="http://schemas.microsoft.com/office/drawing/2014/main" id="{CB3FF484-0B74-4177-8F56-83946852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7335E"/>
                </a:solidFill>
                <a:latin typeface="Noto Sans KR"/>
                <a:ea typeface="Noto Sans KR"/>
                <a:cs typeface="Noto Sans KR"/>
              </a:rPr>
              <a:t>자주 묻는 질문과 전략 활용법을 화면으로 안내합니다</a:t>
            </a:r>
          </a:p>
        </p:txBody>
      </p:sp>
      <p:sp>
        <p:nvSpPr>
          <p:cNvPr id="61" name="전략FAQ 게시글 목록">
            <a:extLst xmlns:a="http://schemas.openxmlformats.org/drawingml/2006/main">
              <a:ext uri="{FF2B5EF4-FFF2-40B4-BE49-F238E27FC236}">
                <a16:creationId xmlns:a16="http://schemas.microsoft.com/office/drawing/2014/main" id="{0770FD0E-46DD-4A38-B5DA-E19C9480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57425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BB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005BB5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005BB5"/>
                </a:solidFill>
                <a:latin typeface="Noto Sans KR"/>
                <a:ea typeface="Noto Sans KR"/>
                <a:cs typeface="Noto Sans KR"/>
              </a:rPr>
              <a:t>전략FAQ 게시글 목록</a:t>
            </a:r>
          </a:p>
        </p:txBody>
      </p:sp>
      <p:sp>
        <p:nvSpPr>
          <p:cNvPr id="62" name="조건 설정과 활용방법을 설명하는 게시글">
            <a:extLst xmlns:a="http://schemas.openxmlformats.org/drawingml/2006/main">
              <a:ext uri="{FF2B5EF4-FFF2-40B4-BE49-F238E27FC236}">
                <a16:creationId xmlns:a16="http://schemas.microsoft.com/office/drawing/2014/main" id="{1364FA46-89DC-40D4-9A81-6CDA8AD1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57425"/>
            <a:ext cx="552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BB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005BB5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005BB5"/>
                </a:solidFill>
                <a:latin typeface="Noto Sans KR"/>
                <a:ea typeface="Noto Sans KR"/>
                <a:cs typeface="Noto Sans KR"/>
              </a:rPr>
              <a:t>조건 설정과 활용방법을 설명하는 게시글</a:t>
            </a:r>
          </a:p>
        </p:txBody>
      </p:sp>
      <p:sp>
        <p:nvSpPr>
          <p:cNvPr id="63" name="고객이 필요한 정보를&#10;게시판에서 직접 확인합니다">
            <a:extLst xmlns:a="http://schemas.openxmlformats.org/drawingml/2006/main">
              <a:ext uri="{FF2B5EF4-FFF2-40B4-BE49-F238E27FC236}">
                <a16:creationId xmlns:a16="http://schemas.microsoft.com/office/drawing/2014/main" id="{13A17857-BAAC-4B26-9BB8-5EFF8D28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816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07335E"/>
                </a:solidFill>
                <a:latin typeface="Noto Sans KR"/>
                <a:ea typeface="Noto Sans KR"/>
                <a:cs typeface="Noto Sans KR"/>
              </a:rPr>
              <a:t>고객이 필요한 정보를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07335E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07335E"/>
                </a:solidFill>
                <a:latin typeface="Noto Sans KR"/>
                <a:ea typeface="Noto Sans KR"/>
                <a:cs typeface="Noto Sans KR"/>
              </a:rPr>
              <a:t>게시판에서 직접 확인합니다</a:t>
            </a:r>
          </a:p>
        </p:txBody>
      </p:sp>
      <p:sp>
        <p:nvSpPr>
          <p:cNvPr id="64" name="전략FAQ와 조건검색 사용법을 제공합니다.">
            <a:extLst xmlns:a="http://schemas.openxmlformats.org/drawingml/2006/main">
              <a:ext uri="{FF2B5EF4-FFF2-40B4-BE49-F238E27FC236}">
                <a16:creationId xmlns:a16="http://schemas.microsoft.com/office/drawing/2014/main" id="{7FC2A4E2-7163-4EAF-BD3F-4BFC161A3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388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47B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47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2647B"/>
                </a:solidFill>
                <a:latin typeface="Noto Sans KR"/>
                <a:ea typeface="Noto Sans KR"/>
                <a:cs typeface="Noto Sans KR"/>
              </a:rPr>
              <a:t>전략FAQ와 조건검색 사용법을 제공합니다.</a:t>
            </a:r>
          </a:p>
        </p:txBody>
      </p:sp>
      <p:pic>
        <p:nvPicPr>
          <p:cNvPr id="65" name="실제 운영 중인 전략FAQ 목록 화면">
            <a:extLst xmlns:a="http://schemas.openxmlformats.org/drawingml/2006/main">
              <a:ext uri="{FF2B5EF4-FFF2-40B4-BE49-F238E27FC236}">
                <a16:creationId xmlns:a16="http://schemas.microsoft.com/office/drawing/2014/main" id="{FE3694F2-BF4E-4536-90E8-5C4337B868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188c63eb6249d8"/>
          <a:srcRect xmlns:a="http://schemas.openxmlformats.org/drawingml/2006/main" l="0" t="0" r="0" b="48582"/>
          <a:stretch xmlns:a="http://schemas.openxmlformats.org/drawingml/2006/main"/>
        </p:blipFill>
        <p:spPr>
          <a:xfrm xmlns:a="http://schemas.openxmlformats.org/drawingml/2006/main">
            <a:off x="571500" y="2695994"/>
            <a:ext cx="4953000" cy="2228013"/>
          </a:xfrm>
          <a:prstGeom xmlns:a="http://schemas.openxmlformats.org/drawingml/2006/main" prst="rect">
            <a:avLst/>
          </a:prstGeom>
        </p:spPr>
      </p:pic>
      <p:pic>
        <p:nvPicPr>
          <p:cNvPr id="66" name="조건검색 사용법과 전략 활용방법을 설명하는 실제 FAQ 게시글">
            <a:extLst xmlns:a="http://schemas.openxmlformats.org/drawingml/2006/main">
              <a:ext uri="{FF2B5EF4-FFF2-40B4-BE49-F238E27FC236}">
                <a16:creationId xmlns:a16="http://schemas.microsoft.com/office/drawing/2014/main" id="{3E1384A7-2021-41E1-B06F-DE1C076351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67d48dce4b4e45"/>
          <a:srcRect xmlns:a="http://schemas.openxmlformats.org/drawingml/2006/main" l="0" t="0" r="0" b="30233"/>
          <a:stretch xmlns:a="http://schemas.openxmlformats.org/drawingml/2006/main"/>
        </p:blipFill>
        <p:spPr>
          <a:xfrm xmlns:a="http://schemas.openxmlformats.org/drawingml/2006/main">
            <a:off x="6327728" y="2695575"/>
            <a:ext cx="5061043" cy="36099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90203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26" name="Google Shape;1126;p59">
            <a:extLst xmlns:a="http://schemas.openxmlformats.org/drawingml/2006/main">
              <a:ext uri="{FF2B5EF4-FFF2-40B4-BE49-F238E27FC236}">
                <a16:creationId xmlns:a16="http://schemas.microsoft.com/office/drawing/2014/main" id="{42917C01-9291-4A1D-900F-812E6BD8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38275"/>
            <a:ext cx="10668000" cy="910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defPPr algn="ctr">
              <a:defRPr sz="4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marL="0" marR="0" lv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4800" b="1" spc="60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감사합니다</a:t>
            </a:r>
            <a:endParaRPr sz="4800" b="1" spc="60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128" name="Google Shape;1128;p59">
            <a:extLst xmlns:a="http://schemas.openxmlformats.org/drawingml/2006/main">
              <a:ext uri="{FF2B5EF4-FFF2-40B4-BE49-F238E27FC236}">
                <a16:creationId xmlns:a16="http://schemas.microsoft.com/office/drawing/2014/main" id="{E9F5B547-D673-456B-92A2-65567146D9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50b5b0b507f4a3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991100" y="3108563"/>
            <a:ext cx="2209800" cy="574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  <a:effectLst xmlns:a="http://schemas.openxmlformats.org/drawingml/2006/main">
            <a:outerShdw blurRad="50800" dist="38100" dir="5400000" algn="t" rotWithShape="0">
              <a:srgbClr val="000000">
                <a:alpha val="40000"/>
              </a:srgbClr>
            </a:outerShdw>
          </a:effectLst>
        </p:spPr>
      </p:pic>
      <p:sp>
        <p:nvSpPr>
          <p:cNvPr id="1129" name="Google Shape;1129;p59">
            <a:extLst xmlns:a="http://schemas.openxmlformats.org/drawingml/2006/main">
              <a:ext uri="{FF2B5EF4-FFF2-40B4-BE49-F238E27FC236}">
                <a16:creationId xmlns:a16="http://schemas.microsoft.com/office/drawing/2014/main" id="{E3EACF87-8623-42C8-B76F-18CAD3F6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476750"/>
            <a:ext cx="3905250" cy="10753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marL="457200" marR="0" lvl="0" indent="-45720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기획담당  서정현 부장</a:t>
            </a:r>
            <a:endParaRPr>
              <a:latin typeface="+mn-ea"/>
              <a:ea typeface="+mn-ea"/>
              <a:cs typeface="+mn-ea"/>
            </a:endParaRPr>
          </a:p>
          <a:p xmlns:a="http://schemas.openxmlformats.org/drawingml/2006/main">
            <a:pPr marL="457200" marR="0" lvl="0" indent="-45720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연락처  (02)785-8141</a:t>
            </a:r>
            <a:endParaRPr>
              <a:latin typeface="+mn-ea"/>
              <a:ea typeface="+mn-ea"/>
              <a:cs typeface="+mn-ea"/>
            </a:endParaRPr>
          </a:p>
          <a:p xmlns:a="http://schemas.openxmlformats.org/drawingml/2006/main">
            <a:pPr marL="457200" marR="0" lvl="0" indent="-45720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휴대폰  010-3000-4058</a:t>
            </a:r>
            <a:endParaRPr>
              <a:latin typeface="+mn-ea"/>
              <a:ea typeface="+mn-ea"/>
              <a:cs typeface="+mn-ea"/>
            </a:endParaRPr>
          </a:p>
          <a:p xmlns:a="http://schemas.openxmlformats.org/drawingml/2006/main">
            <a:pPr marL="457200" marR="0" lvl="0" indent="-45720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이메일  seog1412@kfits.co.kr</a:t>
            </a:r>
            <a:endParaRPr>
              <a:latin typeface="+mn-ea"/>
              <a:ea typeface="+mn-ea"/>
              <a:cs typeface="+mn-ea"/>
            </a:endParaRPr>
          </a:p>
        </p:txBody>
      </p:sp>
      <p:sp>
        <p:nvSpPr>
          <p:cNvPr id="1130" name="Google Shape;1130;p59">
            <a:extLst xmlns:a="http://schemas.openxmlformats.org/drawingml/2006/main">
              <a:ext uri="{FF2B5EF4-FFF2-40B4-BE49-F238E27FC236}">
                <a16:creationId xmlns:a16="http://schemas.microsoft.com/office/drawing/2014/main" id="{9FCF22A5-0FA1-4B1B-8AC1-670F40CC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76750"/>
            <a:ext cx="3905250" cy="10753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marL="457200" marR="0" lvl="0" indent="-45720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영업담당  배혁 과장</a:t>
            </a:r>
            <a:endParaRPr>
              <a:latin typeface="+mn-ea"/>
              <a:ea typeface="+mn-ea"/>
              <a:cs typeface="+mn-ea"/>
            </a:endParaRPr>
          </a:p>
          <a:p xmlns:a="http://schemas.openxmlformats.org/drawingml/2006/main">
            <a:pPr marL="457200" marR="0" lvl="0" indent="-45720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연락처  (02)3775-3608</a:t>
            </a:r>
            <a:endParaRPr>
              <a:latin typeface="+mn-ea"/>
              <a:ea typeface="+mn-ea"/>
              <a:cs typeface="+mn-ea"/>
            </a:endParaRPr>
          </a:p>
          <a:p xmlns:a="http://schemas.openxmlformats.org/drawingml/2006/main">
            <a:pPr marL="457200" marR="0" lvl="0" indent="-45720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휴대폰  010-9480-4736</a:t>
            </a:r>
            <a:endParaRPr>
              <a:latin typeface="+mn-ea"/>
              <a:ea typeface="+mn-ea"/>
              <a:cs typeface="+mn-ea"/>
            </a:endParaRPr>
          </a:p>
          <a:p xmlns:a="http://schemas.openxmlformats.org/drawingml/2006/main">
            <a:pPr marL="457200" marR="0" lvl="0" indent="-45720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이메일  baeh@kfits.co.kr</a:t>
            </a:r>
            <a:endParaRPr>
              <a:latin typeface="+mn-ea"/>
              <a:ea typeface="+mn-ea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5741226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2026-10-15T07:46:05.8780000Z</dcterms:created>
  <dcterms:modified xsi:type="dcterms:W3CDTF">2026-10-15T07:46:05.8780000Z</dcterms:modified>
</coreProperties>
</file>